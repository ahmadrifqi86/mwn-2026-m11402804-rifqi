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965960"/>
            <a:ext cx="100584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 i="0" spc="300">
                <a:solidFill>
                  <a:srgbClr val="2F63E6"/>
                </a:solidFill>
                <a:latin typeface="Consolas"/>
              </a:rPr>
              <a:t>RESEARCH PLAN · A1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4000" b="1" i="0">
                <a:solidFill>
                  <a:srgbClr val="141A24"/>
                </a:solidFill>
                <a:latin typeface="Segoe UI Semibold"/>
              </a:rPr>
              <a:t>Handling </a:t>
            </a:r>
            <a:r>
              <a:rPr sz="4000" b="1" i="0">
                <a:solidFill>
                  <a:srgbClr val="2F63E6"/>
                </a:solidFill>
                <a:latin typeface="Segoe UI Semibold"/>
              </a:rPr>
              <a:t>Busy-Hour</a:t>
            </a:r>
            <a:r>
              <a:rPr sz="4000" b="1" i="0">
                <a:solidFill>
                  <a:srgbClr val="141A24"/>
                </a:solidFill>
                <a:latin typeface="Segoe UI Semibold"/>
              </a:rPr>
              <a:t> Traffic in 802.16 OFDMA Admission Control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86274"/>
                </a:solidFill>
                <a:latin typeface="Segoe UI"/>
              </a:rPr>
              <a:t>Does the usual fixed-traffic model underestimate quality when the network is busy?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5440680"/>
            <a:ext cx="10424160" cy="0"/>
          </a:xfrm>
          <a:prstGeom prst="bentConnector3">
            <a:avLst/>
          </a:prstGeom>
          <a:ln w="1524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55778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41A24"/>
                </a:solidFill>
                <a:latin typeface="Consolas"/>
              </a:rPr>
              <a:t>Student   </a:t>
            </a:r>
            <a:r>
              <a:rPr sz="1250" b="0" i="0">
                <a:solidFill>
                  <a:srgbClr val="8A94A4"/>
                </a:solidFill>
                <a:latin typeface="Consolas"/>
              </a:rPr>
              <a:t>M11402804 · Ahmad Rifqi Fadhlurrahman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1A24"/>
                </a:solidFill>
                <a:latin typeface="Consolas"/>
              </a:rPr>
              <a:t>Base paper   </a:t>
            </a:r>
            <a:r>
              <a:rPr sz="1250" b="0" i="0">
                <a:solidFill>
                  <a:srgbClr val="8A94A4"/>
                </a:solidFill>
                <a:latin typeface="Consolas"/>
              </a:rPr>
              <a:t>El Bouchti, El Kafhali &amp; Haqiq — arXiv:1308.3127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150">
                <a:solidFill>
                  <a:srgbClr val="8A94A4"/>
                </a:solidFill>
                <a:latin typeface="Consolas"/>
              </a:rPr>
              <a:t>01   </a:t>
            </a:r>
            <a:r>
              <a:rPr sz="1400" b="1" i="0">
                <a:solidFill>
                  <a:srgbClr val="D97A2B"/>
                </a:solidFill>
                <a:latin typeface="Segoe UI"/>
              </a:rPr>
              <a:t>•  </a:t>
            </a:r>
            <a:r>
              <a:rPr sz="1400" b="1" i="0" spc="220">
                <a:solidFill>
                  <a:srgbClr val="2F63E6"/>
                </a:solidFill>
                <a:latin typeface="Consola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58521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20">
                <a:solidFill>
                  <a:srgbClr val="8A94A4"/>
                </a:solidFill>
                <a:latin typeface="Consolas"/>
              </a:rPr>
              <a:t>WiMAX · 802.16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41A24"/>
                </a:solidFill>
                <a:latin typeface="Segoe UI Semibold"/>
              </a:rPr>
              <a:t>A fixed traffic level can't describe a network that gets busy and quiet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2084831"/>
            <a:ext cx="1920240" cy="0"/>
          </a:xfrm>
          <a:prstGeom prst="bentConnector3">
            <a:avLst/>
          </a:prstGeom>
          <a:ln w="254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2468880"/>
            <a:ext cx="10424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750" b="0" i="0">
                <a:solidFill>
                  <a:srgbClr val="141A24"/>
                </a:solidFill>
                <a:latin typeface="Segoe UI"/>
              </a:rPr>
              <a:t>The base paper predicts call quality in a WiMAX (802.16) network by modelling how data packets arrive.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750" b="0" i="0">
                <a:solidFill>
                  <a:srgbClr val="141A24"/>
                </a:solidFill>
                <a:latin typeface="Segoe UI"/>
              </a:rPr>
              <a:t>Its model assumes each user's “busy-burst” rate stays the same all day long.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750" b="0" i="0">
                <a:solidFill>
                  <a:srgbClr val="141A24"/>
                </a:solidFill>
                <a:latin typeface="Segoe UI"/>
              </a:rPr>
              <a:t>But real voice and video traffic bursts far harder in </a:t>
            </a:r>
            <a:r>
              <a:rPr sz="1750" b="1" i="0">
                <a:solidFill>
                  <a:srgbClr val="D97A2B"/>
                </a:solidFill>
                <a:latin typeface="Segoe UI"/>
              </a:rPr>
              <a:t>busy hours</a:t>
            </a:r>
            <a:r>
              <a:rPr sz="1750" b="0" i="0">
                <a:solidFill>
                  <a:srgbClr val="141A24"/>
                </a:solidFill>
                <a:latin typeface="Segoe UI"/>
              </a:rPr>
              <a:t> than in quiet times.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750" b="0" i="0">
                <a:solidFill>
                  <a:srgbClr val="141A24"/>
                </a:solidFill>
                <a:latin typeface="Segoe UI"/>
              </a:rPr>
              <a:t>So its quality predictions, tuned to one traffic level, can be wrong when the network is truly busy.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750" b="0" i="0">
                <a:solidFill>
                  <a:srgbClr val="141A24"/>
                </a:solidFill>
                <a:latin typeface="Segoe UI"/>
              </a:rPr>
              <a:t>We ask how different quality is at busy vs quiet hours — and what that gap costs the operator.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150">
                <a:solidFill>
                  <a:srgbClr val="8A94A4"/>
                </a:solidFill>
                <a:latin typeface="Consolas"/>
              </a:rPr>
              <a:t>02   </a:t>
            </a:r>
            <a:r>
              <a:rPr sz="1400" b="1" i="0">
                <a:solidFill>
                  <a:srgbClr val="D97A2B"/>
                </a:solidFill>
                <a:latin typeface="Segoe UI"/>
              </a:rPr>
              <a:t>•  </a:t>
            </a:r>
            <a:r>
              <a:rPr sz="1400" b="1" i="0" spc="220">
                <a:solidFill>
                  <a:srgbClr val="2F63E6"/>
                </a:solidFill>
                <a:latin typeface="Consolas"/>
              </a:rPr>
              <a:t>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58521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20">
                <a:solidFill>
                  <a:srgbClr val="8A94A4"/>
                </a:solidFill>
                <a:latin typeface="Consolas"/>
              </a:rPr>
              <a:t>the hard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41A24"/>
                </a:solidFill>
                <a:latin typeface="Segoe UI Semibold"/>
              </a:rPr>
              <a:t>Letting traffic change over time is harder than it sounds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2084831"/>
            <a:ext cx="1920240" cy="0"/>
          </a:xfrm>
          <a:prstGeom prst="bentConnector3">
            <a:avLst/>
          </a:prstGeom>
          <a:ln w="254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2468880"/>
            <a:ext cx="10424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750" b="0" i="0">
                <a:solidFill>
                  <a:srgbClr val="141A24"/>
                </a:solidFill>
                <a:latin typeface="Segoe UI"/>
              </a:rPr>
              <a:t>Once traffic changes with time, the model can no longer be solved in a single step as before.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750" b="0" i="0">
                <a:solidFill>
                  <a:srgbClr val="141A24"/>
                </a:solidFill>
                <a:latin typeface="Segoe UI"/>
              </a:rPr>
              <a:t>Rebuilding the math from scratch to allow that would be heavy work and easy to get wrong.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750" b="0" i="0">
                <a:solidFill>
                  <a:srgbClr val="141A24"/>
                </a:solidFill>
                <a:latin typeface="Segoe UI"/>
              </a:rPr>
              <a:t>Two effects are easy to confuse: a slow “catch-up” lag versus a simple averaging bias.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750" b="0" i="0">
                <a:solidFill>
                  <a:srgbClr val="141A24"/>
                </a:solidFill>
                <a:latin typeface="Segoe UI"/>
              </a:rPr>
              <a:t>Limits tuned for one traffic level (buffer size, cut-off values) may break at higher </a:t>
            </a:r>
            <a:r>
              <a:rPr sz="1750" b="1" i="0">
                <a:solidFill>
                  <a:srgbClr val="D97A2B"/>
                </a:solidFill>
                <a:latin typeface="Segoe UI"/>
              </a:rPr>
              <a:t>busy-hour</a:t>
            </a:r>
            <a:r>
              <a:rPr sz="1750" b="0" i="0">
                <a:solidFill>
                  <a:srgbClr val="141A24"/>
                </a:solidFill>
                <a:latin typeface="Segoe UI"/>
              </a:rPr>
              <a:t> levels.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150">
                <a:solidFill>
                  <a:srgbClr val="8A94A4"/>
                </a:solidFill>
                <a:latin typeface="Consolas"/>
              </a:rPr>
              <a:t>03   </a:t>
            </a:r>
            <a:r>
              <a:rPr sz="1400" b="1" i="0">
                <a:solidFill>
                  <a:srgbClr val="D97A2B"/>
                </a:solidFill>
                <a:latin typeface="Segoe UI"/>
              </a:rPr>
              <a:t>•  </a:t>
            </a:r>
            <a:r>
              <a:rPr sz="1400" b="1" i="0" spc="220">
                <a:solidFill>
                  <a:srgbClr val="2F63E6"/>
                </a:solidFill>
                <a:latin typeface="Consolas"/>
              </a:rPr>
              <a:t>RELATED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58521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20">
                <a:solidFill>
                  <a:srgbClr val="8A94A4"/>
                </a:solidFill>
                <a:latin typeface="Consolas"/>
              </a:rPr>
              <a:t>where we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41A24"/>
                </a:solidFill>
                <a:latin typeface="Segoe UI Semibold"/>
              </a:rPr>
              <a:t>Earlier models stop at a steady, unchanging traffic world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2084831"/>
            <a:ext cx="1920240" cy="0"/>
          </a:xfrm>
          <a:prstGeom prst="bentConnector3">
            <a:avLst/>
          </a:prstGeom>
          <a:ln w="254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2468880"/>
            <a:ext cx="10424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750" b="0" i="0">
                <a:solidFill>
                  <a:srgbClr val="141A24"/>
                </a:solidFill>
                <a:latin typeface="Segoe UI"/>
              </a:rPr>
              <a:t>The base paper (El Bouchti, El Kafhali &amp; Haqiq, 2013) provides the model and quality formulas we build on.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750" b="0" i="0">
                <a:solidFill>
                  <a:srgbClr val="141A24"/>
                </a:solidFill>
                <a:latin typeface="Segoe UI"/>
              </a:rPr>
              <a:t>Existing admission-control studies for 802.16 assume traffic that never changes over time.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750" b="0" i="0">
                <a:solidFill>
                  <a:srgbClr val="141A24"/>
                </a:solidFill>
                <a:latin typeface="Segoe UI"/>
              </a:rPr>
              <a:t>The bursty-traffic model used here (MMPP) is standard, but is normally set to fixed rates.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750" b="0" i="0">
                <a:solidFill>
                  <a:srgbClr val="141A24"/>
                </a:solidFill>
                <a:latin typeface="Segoe UI"/>
              </a:rPr>
              <a:t>No earlier study lets the busy-hour intensity rise and fall with the </a:t>
            </a:r>
            <a:r>
              <a:rPr sz="1750" b="1" i="0">
                <a:solidFill>
                  <a:srgbClr val="D97A2B"/>
                </a:solidFill>
                <a:latin typeface="Segoe UI"/>
              </a:rPr>
              <a:t>time of day</a:t>
            </a:r>
            <a:r>
              <a:rPr sz="1750" b="0" i="0">
                <a:solidFill>
                  <a:srgbClr val="141A24"/>
                </a:solidFill>
                <a:latin typeface="Segoe UI"/>
              </a:rPr>
              <a:t> — the gap we fill.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150">
                <a:solidFill>
                  <a:srgbClr val="8A94A4"/>
                </a:solidFill>
                <a:latin typeface="Consolas"/>
              </a:rPr>
              <a:t>04   </a:t>
            </a:r>
            <a:r>
              <a:rPr sz="1400" b="1" i="0">
                <a:solidFill>
                  <a:srgbClr val="D97A2B"/>
                </a:solidFill>
                <a:latin typeface="Segoe UI"/>
              </a:rPr>
              <a:t>•  </a:t>
            </a:r>
            <a:r>
              <a:rPr sz="1400" b="1" i="0" spc="220">
                <a:solidFill>
                  <a:srgbClr val="2F63E6"/>
                </a:solidFill>
                <a:latin typeface="Consolas"/>
              </a:rPr>
              <a:t>PROPOSED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58521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20">
                <a:solidFill>
                  <a:srgbClr val="8A94A4"/>
                </a:solidFill>
                <a:latin typeface="Consolas"/>
              </a:rPr>
              <a:t>the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 Semibold"/>
              </a:rPr>
              <a:t>Reuse the existing model; add only what changing traffic needs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2084831"/>
            <a:ext cx="1920240" cy="0"/>
          </a:xfrm>
          <a:prstGeom prst="bentConnector3">
            <a:avLst/>
          </a:prstGeom>
          <a:ln w="254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2487168"/>
            <a:ext cx="6126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141A24"/>
                </a:solidFill>
                <a:latin typeface="Segoe UI"/>
              </a:rPr>
              <a:t>Test many traffic levels, solve the same model at each, and get smooth quality-vs-traffic curves.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141A24"/>
                </a:solidFill>
                <a:latin typeface="Segoe UI"/>
              </a:rPr>
              <a:t>Trace those curves along a daily traffic pattern to reveal a hidden bias — averaging the traffic makes busy hours look better than they really are (the </a:t>
            </a:r>
            <a:r>
              <a:rPr sz="1600" b="1" i="0">
                <a:solidFill>
                  <a:srgbClr val="D97A2B"/>
                </a:solidFill>
                <a:latin typeface="Segoe UI"/>
              </a:rPr>
              <a:t>“Jensen” effect</a:t>
            </a:r>
            <a:r>
              <a:rPr sz="1600" b="0" i="0">
                <a:solidFill>
                  <a:srgbClr val="141A24"/>
                </a:solidFill>
                <a:latin typeface="Segoe UI"/>
              </a:rPr>
              <a:t>).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141A24"/>
                </a:solidFill>
                <a:latin typeface="Segoe UI"/>
              </a:rPr>
              <a:t>Step the model through time to catch the lag and overshoot that a static view would miss.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F63E6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141A24"/>
                </a:solidFill>
                <a:latin typeface="Segoe UI"/>
              </a:rPr>
              <a:t>Tighten the admission limit for </a:t>
            </a:r>
            <a:r>
              <a:rPr sz="1600" b="1" i="0">
                <a:solidFill>
                  <a:srgbClr val="D97A2B"/>
                </a:solidFill>
                <a:latin typeface="Segoe UI"/>
              </a:rPr>
              <a:t>busy hours</a:t>
            </a:r>
            <a:r>
              <a:rPr sz="1600" b="0" i="0">
                <a:solidFill>
                  <a:srgbClr val="141A24"/>
                </a:solidFill>
                <a:latin typeface="Segoe UI"/>
              </a:rPr>
              <a:t>, then double-check it all with the ns-3 network simulator.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2487168"/>
            <a:ext cx="3886200" cy="1783080"/>
          </a:xfrm>
          <a:prstGeom prst="roundRect">
            <a:avLst>
              <a:gd name="adj" fmla="val 9000"/>
            </a:avLst>
          </a:prstGeom>
          <a:solidFill>
            <a:srgbClr val="ECF1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2651760"/>
            <a:ext cx="3374136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 spc="80">
                <a:solidFill>
                  <a:srgbClr val="2F63E6"/>
                </a:solidFill>
                <a:latin typeface="Consolas"/>
              </a:rPr>
              <a:t>PACKET-ARRIVAL PROBABILITY · PAPER EQ. (4)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 i="1">
                <a:solidFill>
                  <a:srgbClr val="141A24"/>
                </a:solidFill>
                <a:latin typeface="Segoe UI"/>
              </a:rPr>
              <a:t>f</a:t>
            </a:r>
            <a:r>
              <a:rPr sz="2100" b="0" i="1" baseline="-25000">
                <a:solidFill>
                  <a:srgbClr val="141A24"/>
                </a:solidFill>
                <a:latin typeface="Segoe UI"/>
              </a:rPr>
              <a:t>n</a:t>
            </a:r>
            <a:r>
              <a:rPr sz="2100" b="0" i="0">
                <a:solidFill>
                  <a:srgbClr val="141A24"/>
                </a:solidFill>
                <a:latin typeface="Segoe UI"/>
              </a:rPr>
              <a:t>(</a:t>
            </a:r>
            <a:r>
              <a:rPr sz="2100" b="0" i="0">
                <a:solidFill>
                  <a:srgbClr val="2F63E6"/>
                </a:solidFill>
                <a:latin typeface="Segoe UI"/>
              </a:rPr>
              <a:t>λ</a:t>
            </a:r>
            <a:r>
              <a:rPr sz="2100" b="0" i="0">
                <a:solidFill>
                  <a:srgbClr val="141A24"/>
                </a:solidFill>
                <a:latin typeface="Segoe UI"/>
              </a:rPr>
              <a:t>)  =   e</a:t>
            </a:r>
            <a:r>
              <a:rPr sz="2100" b="0" i="0" baseline="30000">
                <a:solidFill>
                  <a:srgbClr val="141A24"/>
                </a:solidFill>
                <a:latin typeface="Segoe UI"/>
              </a:rPr>
              <a:t>−λ</a:t>
            </a:r>
            <a:r>
              <a:rPr sz="2100" b="0" i="0">
                <a:solidFill>
                  <a:srgbClr val="141A24"/>
                </a:solidFill>
                <a:latin typeface="Segoe UI"/>
              </a:rPr>
              <a:t> λ</a:t>
            </a:r>
            <a:r>
              <a:rPr sz="2100" b="0" i="0" baseline="30000">
                <a:solidFill>
                  <a:srgbClr val="141A24"/>
                </a:solidFill>
                <a:latin typeface="Segoe UI"/>
              </a:rPr>
              <a:t>n</a:t>
            </a:r>
            <a:r>
              <a:rPr sz="2100" b="0" i="0">
                <a:solidFill>
                  <a:srgbClr val="141A24"/>
                </a:solidFill>
                <a:latin typeface="Segoe UI"/>
              </a:rPr>
              <a:t> / n!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94A4"/>
                </a:solidFill>
                <a:latin typeface="Consolas"/>
              </a:rPr>
              <a:t>n = 0, 1, 2, 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4526280"/>
            <a:ext cx="3886200" cy="1828800"/>
          </a:xfrm>
          <a:prstGeom prst="roundRect">
            <a:avLst>
              <a:gd name="adj" fmla="val 7000"/>
            </a:avLst>
          </a:prstGeom>
          <a:solidFill>
            <a:srgbClr val="F6F8FB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08392" y="4672584"/>
            <a:ext cx="3374136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 spc="120">
                <a:solidFill>
                  <a:srgbClr val="8A94A4"/>
                </a:solidFill>
                <a:latin typeface="Consolas"/>
              </a:rPr>
              <a:t>WHAT EACH SYMBOL MEANS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2F63E6"/>
                </a:solidFill>
                <a:latin typeface="Consolas"/>
              </a:rPr>
              <a:t>fₙ(λ)   </a:t>
            </a:r>
            <a:r>
              <a:rPr sz="1200" b="0" i="0">
                <a:solidFill>
                  <a:srgbClr val="586274"/>
                </a:solidFill>
                <a:latin typeface="Segoe UI"/>
              </a:rPr>
              <a:t>chance of exactly n packets in one frame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2F63E6"/>
                </a:solidFill>
                <a:latin typeface="Consolas"/>
              </a:rPr>
              <a:t>λ   </a:t>
            </a:r>
            <a:r>
              <a:rPr sz="1200" b="0" i="0">
                <a:solidFill>
                  <a:srgbClr val="586274"/>
                </a:solidFill>
                <a:latin typeface="Segoe UI"/>
              </a:rPr>
              <a:t>average packets per frame — the traffic level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2F63E6"/>
                </a:solidFill>
                <a:latin typeface="Consolas"/>
              </a:rPr>
              <a:t>n   </a:t>
            </a:r>
            <a:r>
              <a:rPr sz="1200" b="0" i="0">
                <a:solidFill>
                  <a:srgbClr val="586274"/>
                </a:solidFill>
                <a:latin typeface="Segoe UI"/>
              </a:rPr>
              <a:t>packets counted in that frame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2F63E6"/>
                </a:solidFill>
                <a:latin typeface="Consolas"/>
              </a:rPr>
              <a:t>A   </a:t>
            </a:r>
            <a:r>
              <a:rPr sz="1200" b="0" i="0">
                <a:solidFill>
                  <a:srgbClr val="586274"/>
                </a:solidFill>
                <a:latin typeface="Segoe UI"/>
              </a:rPr>
              <a:t>max packets/frame per connection (= 30)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