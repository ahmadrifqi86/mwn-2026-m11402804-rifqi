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500" b="1" i="0" spc="300">
                <a:solidFill>
                  <a:srgbClr val="2F63E6"/>
                </a:solidFill>
                <a:latin typeface="Consolas"/>
              </a:rPr>
              <a:t>ASSIGNMENT A2 · NS-3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4000" b="1" i="0">
                <a:solidFill>
                  <a:srgbClr val="141A24"/>
                </a:solidFill>
                <a:latin typeface="Segoe UI Semibold"/>
              </a:rPr>
              <a:t>ns-3 in Docker with a </a:t>
            </a:r>
            <a:r>
              <a:rPr sz="4000" b="1" i="0">
                <a:solidFill>
                  <a:srgbClr val="2F63E6"/>
                </a:solidFill>
                <a:latin typeface="Segoe UI Semibold"/>
              </a:rPr>
              <a:t>3GPP XR</a:t>
            </a:r>
            <a:r>
              <a:rPr sz="4000" b="1" i="0">
                <a:solidFill>
                  <a:srgbClr val="141A24"/>
                </a:solidFill>
                <a:latin typeface="Segoe UI Semibold"/>
              </a:rPr>
              <a:t> Traffic Model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 i="0">
                <a:solidFill>
                  <a:srgbClr val="586274"/>
                </a:solidFill>
                <a:latin typeface="Segoe UI"/>
              </a:rPr>
              <a:t>Install it, run it, and prove it: throughput and delay, a Wireshark capture, and the generated traffic checked against the 3GPP spec.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5440680"/>
            <a:ext cx="10424160" cy="0"/>
          </a:xfrm>
          <a:prstGeom prst="bentConnector3">
            <a:avLst/>
          </a:prstGeom>
          <a:ln w="1524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68680" y="55778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1" i="0">
                <a:solidFill>
                  <a:srgbClr val="141A24"/>
                </a:solidFill>
                <a:latin typeface="Consolas"/>
              </a:rPr>
              <a:t>Student   </a:t>
            </a:r>
            <a:r>
              <a:rPr sz="1250" b="0" i="0">
                <a:solidFill>
                  <a:srgbClr val="8A94A4"/>
                </a:solidFill>
                <a:latin typeface="Consolas"/>
              </a:rPr>
              <a:t>M11402804 · Ahmad Rifqi Fadhlurrahman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 i="0">
                <a:solidFill>
                  <a:srgbClr val="141A24"/>
                </a:solidFill>
                <a:latin typeface="Consolas"/>
              </a:rPr>
              <a:t>Spec      </a:t>
            </a:r>
            <a:r>
              <a:rPr sz="1250" b="0" i="0">
                <a:solidFill>
                  <a:srgbClr val="8A94A4"/>
                </a:solidFill>
                <a:latin typeface="Consolas"/>
              </a:rPr>
              <a:t>3GPP TR 26.926 V19.0.0 (ETSI TR 126 926) → TR 38.838 XR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01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docker · ns-3.48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One Docker image, one pinned ns-3 release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331720"/>
            <a:ext cx="6035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11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Docker image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(Ubuntu 24.04) holds the toolchain, tshark and Python plotting — built in 3 min, 1.1 GB.</a:t>
            </a:r>
          </a:p>
          <a:p>
            <a:pPr algn="l">
              <a:lnSpc>
                <a:spcPct val="114999"/>
              </a:lnSpc>
              <a:spcAft>
                <a:spcPts val="11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ns-3 source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lives in a host folder mounted into the container, so code and results survive the container.</a:t>
            </a:r>
          </a:p>
          <a:p>
            <a:pPr algn="l">
              <a:lnSpc>
                <a:spcPct val="114999"/>
              </a:lnSpc>
              <a:spcAft>
                <a:spcPts val="11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Pinned to </a:t>
            </a:r>
            <a:r>
              <a:rPr sz="1500" b="0" i="0">
                <a:solidFill>
                  <a:srgbClr val="2F63E6"/>
                </a:solidFill>
                <a:latin typeface="Consolas"/>
              </a:rPr>
              <a:t>ns-3.48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, built optimized with examples and tests: ~2 000 targets in 21 min on 20 cores.</a:t>
            </a:r>
          </a:p>
          <a:p>
            <a:pPr algn="l">
              <a:lnSpc>
                <a:spcPct val="114999"/>
              </a:lnSpc>
              <a:spcAft>
                <a:spcPts val="11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Smoke test </a:t>
            </a:r>
            <a:r>
              <a:rPr sz="1500" b="0" i="0">
                <a:solidFill>
                  <a:srgbClr val="2F63E6"/>
                </a:solidFill>
                <a:latin typeface="Consolas"/>
              </a:rPr>
              <a:t>./test.py --suite=udp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1E8E5A"/>
                </a:solidFill>
                <a:latin typeface="Segoe UI"/>
              </a:rPr>
              <a:t>PASS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331720"/>
            <a:ext cx="4023360" cy="25146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496312"/>
            <a:ext cx="356616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ENVIRONMENT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Host     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Ubuntu 22.04.5, 20 cores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Docker   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28.3.0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Container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Ubuntu 24.04.5 LTS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ns-3     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ns-3.48 (optimized)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Compiler 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g++ 13.3.0 · CMake 3.28.3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2F63E6"/>
                </a:solidFill>
                <a:latin typeface="Consolas"/>
              </a:rPr>
              <a:t>Tools       </a:t>
            </a:r>
            <a:r>
              <a:rPr sz="1150" b="0" i="0">
                <a:solidFill>
                  <a:srgbClr val="586274"/>
                </a:solidFill>
                <a:latin typeface="Segoe UI"/>
              </a:rPr>
              <a:t>Python 3.12.3 · Wireshark 4.2.2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02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and the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What broke on the way — and how it was fixed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286000"/>
            <a:ext cx="104241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Disk full: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/ at 100 % (398 MB free) blocked docker build → removed two unused images, freeing ~20 GB.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Silent smoke test: </a:t>
            </a:r>
            <a:r>
              <a:rPr sz="1500" b="0" i="0">
                <a:solidFill>
                  <a:srgbClr val="2F63E6"/>
                </a:solidFill>
                <a:latin typeface="Consolas"/>
              </a:rPr>
              <a:t>./ns3 run first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prints nothing in the optimized profile (logging compiled out) → use </a:t>
            </a:r>
            <a:r>
              <a:rPr sz="1500" b="0" i="0">
                <a:solidFill>
                  <a:srgbClr val="2F63E6"/>
                </a:solidFill>
                <a:latin typeface="Consolas"/>
              </a:rPr>
              <a:t>test.py --suite=udp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Lost frames: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one UDP datagram per frame failed silently above 65 507 B — only 407 of 600 frames arrived → fragment into 1400 B packets and count every failed send.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Wrong truncation: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frame size cut at ±3σ, but the spec says </a:t>
            </a:r>
            <a:r>
              <a:rPr sz="1600" b="1" i="0">
                <a:solidFill>
                  <a:srgbClr val="D97A2B"/>
                </a:solidFill>
                <a:latin typeface="Segoe UI"/>
              </a:rPr>
              <a:t>50 %–150 % of the mean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→ fixed to match the spec.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Wrong jitter: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jitter accumulated into the inter-arrival time, but the spec adds it </a:t>
            </a:r>
            <a:r>
              <a:rPr sz="1600" b="1" i="0">
                <a:solidFill>
                  <a:srgbClr val="D97A2B"/>
                </a:solidFill>
                <a:latin typeface="Segoe UI"/>
              </a:rPr>
              <a:t>on top of periodic arrivals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 → schedule frame k at t₀ + k·T + J_k.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6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41A24"/>
                </a:solidFill>
                <a:latin typeface="Segoe UI"/>
              </a:rPr>
              <a:t>Misleading decode: </a:t>
            </a:r>
            <a:r>
              <a:rPr sz="1600" b="0" i="0">
                <a:solidFill>
                  <a:srgbClr val="141A24"/>
                </a:solidFill>
                <a:latin typeface="Segoe UI"/>
              </a:rPr>
              <a:t>Wireshark showed port 5000 as protocol TAPA → moved the flow to port 40000.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03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TRAFFIC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3GPP TR 26.926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The 3GPP XR video traffic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33172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5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41A24"/>
                </a:solidFill>
                <a:latin typeface="Segoe UI"/>
              </a:rPr>
              <a:t>Frames: 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the video sends one frame every 1/60 s (60 frames per second) at 30 or 45 Mbit/s.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5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41A24"/>
                </a:solidFill>
                <a:latin typeface="Segoe UI"/>
              </a:rPr>
              <a:t>Frame size: 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random, averaging 62 500 bytes — most within ±10 %, never below half or above 1.5× the average.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5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41A24"/>
                </a:solidFill>
                <a:latin typeface="Segoe UI"/>
              </a:rPr>
              <a:t>Timing: 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each frame leaves near its fixed time slot, shifted by a small random amount of up to ±4 ms. The shifts </a:t>
            </a:r>
            <a:r>
              <a:rPr sz="1500" b="1" i="0">
                <a:solidFill>
                  <a:srgbClr val="D97A2B"/>
                </a:solidFill>
                <a:latin typeface="Segoe UI"/>
              </a:rPr>
              <a:t>do not add up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 over time.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5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41A24"/>
                </a:solidFill>
                <a:latin typeface="Segoe UI"/>
              </a:rPr>
              <a:t>Packets: 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each frame is cut into packets of at most 1400 bytes — about 45 per frame.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5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41A24"/>
                </a:solidFill>
                <a:latin typeface="Segoe UI"/>
              </a:rPr>
              <a:t>Delay limit: </a:t>
            </a:r>
            <a:r>
              <a:rPr sz="1500" b="0" i="0">
                <a:solidFill>
                  <a:srgbClr val="141A24"/>
                </a:solidFill>
                <a:latin typeface="Segoe UI"/>
              </a:rPr>
              <a:t>every packet should arrive within 10 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331720"/>
            <a:ext cx="4023360" cy="1828800"/>
          </a:xfrm>
          <a:prstGeom prst="roundRect">
            <a:avLst>
              <a:gd name="adj" fmla="val 9000"/>
            </a:avLst>
          </a:prstGeom>
          <a:solidFill>
            <a:srgbClr val="ECF1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251460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50" b="1" i="0" spc="80">
                <a:solidFill>
                  <a:srgbClr val="2F63E6"/>
                </a:solidFill>
                <a:latin typeface="Consolas"/>
              </a:rPr>
              <a:t>ONE FRAME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F63E6"/>
                </a:solidFill>
                <a:latin typeface="Segoe UI Semibold"/>
              </a:rPr>
              <a:t>16.67 ms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00" b="0" i="0">
                <a:solidFill>
                  <a:srgbClr val="586274"/>
                </a:solidFill>
                <a:latin typeface="Segoe UI"/>
              </a:rPr>
              <a:t>between frames (60 per second)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F63E6"/>
                </a:solidFill>
                <a:latin typeface="Segoe UI Semibold"/>
              </a:rPr>
              <a:t>≈ 62 500 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86274"/>
                </a:solidFill>
                <a:latin typeface="Segoe UI"/>
              </a:rPr>
              <a:t>per frame, from 31 250 to 93 750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4389120"/>
            <a:ext cx="4023360" cy="1600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4553712"/>
            <a:ext cx="3566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AT 30 MBIT/S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63E6"/>
                </a:solidFill>
                <a:latin typeface="Consolas"/>
              </a:rPr>
              <a:t>Shift     </a:t>
            </a:r>
            <a:r>
              <a:rPr sz="1200" b="0" i="0">
                <a:solidFill>
                  <a:srgbClr val="586274"/>
                </a:solidFill>
                <a:latin typeface="Segoe UI"/>
              </a:rPr>
              <a:t>random, up to ±4 ms per frame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63E6"/>
                </a:solidFill>
                <a:latin typeface="Consolas"/>
              </a:rPr>
              <a:t>Packets   </a:t>
            </a:r>
            <a:r>
              <a:rPr sz="1200" b="0" i="0">
                <a:solidFill>
                  <a:srgbClr val="586274"/>
                </a:solidFill>
                <a:latin typeface="Segoe UI"/>
              </a:rPr>
              <a:t>≤ 1400 B each, ~45 per frame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63E6"/>
                </a:solidFill>
                <a:latin typeface="Consolas"/>
              </a:rPr>
              <a:t>Delay     </a:t>
            </a:r>
            <a:r>
              <a:rPr sz="1200" b="0" i="0">
                <a:solidFill>
                  <a:srgbClr val="586274"/>
                </a:solidFill>
                <a:latin typeface="Segoe UI"/>
              </a:rPr>
              <a:t>at most 10 ms per packet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04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flowmonitor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30 Mbit/s delivered within the delay budget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2402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141A24"/>
                </a:solidFill>
                <a:latin typeface="Consolas"/>
              </a:rPr>
              <a:t>n0 </a:t>
            </a:r>
            <a:r>
              <a:rPr sz="1400" b="0" i="0">
                <a:solidFill>
                  <a:srgbClr val="2F63E6"/>
                </a:solidFill>
                <a:latin typeface="Consolas"/>
              </a:rPr>
              <a:t>── 200 Mbps · 5 ms ──▶</a:t>
            </a:r>
            <a:r>
              <a:rPr sz="1400" b="1" i="0">
                <a:solidFill>
                  <a:srgbClr val="141A24"/>
                </a:solidFill>
                <a:latin typeface="Consolas"/>
              </a:rPr>
              <a:t> n1   </a:t>
            </a:r>
            <a:r>
              <a:rPr sz="1400" b="0" i="0">
                <a:solidFill>
                  <a:srgbClr val="586274"/>
                </a:solidFill>
                <a:latin typeface="Consolas"/>
              </a:rPr>
              <a:t>UDP :40000 · 600 frames · 10 s · seed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CF1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36391"/>
            <a:ext cx="1920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100" b="1" i="0">
                <a:solidFill>
                  <a:srgbClr val="2F63E6"/>
                </a:solidFill>
                <a:latin typeface="Segoe UI Semibold"/>
              </a:rPr>
              <a:t>30.04</a:t>
            </a:r>
            <a:r>
              <a:rPr sz="1300" b="1" i="0">
                <a:solidFill>
                  <a:srgbClr val="2F63E6"/>
                </a:solidFill>
                <a:latin typeface="Segoe UI Semibold"/>
              </a:rPr>
              <a:t> Mbps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86274"/>
                </a:solidFill>
                <a:latin typeface="Segoe UI"/>
              </a:rPr>
              <a:t>offered at the application (target 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88036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CF1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3136391"/>
            <a:ext cx="1920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100" b="1" i="0">
                <a:solidFill>
                  <a:srgbClr val="1E8E5A"/>
                </a:solidFill>
                <a:latin typeface="Segoe UI Semibold"/>
              </a:rPr>
              <a:t>27 119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86274"/>
                </a:solidFill>
                <a:latin typeface="Segoe UI"/>
              </a:rPr>
              <a:t>packets sent = received, 0 lost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88036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CF1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136391"/>
            <a:ext cx="1920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100" b="1" i="0">
                <a:solidFill>
                  <a:srgbClr val="2F63E6"/>
                </a:solidFill>
                <a:latin typeface="Segoe UI Semibold"/>
              </a:rPr>
              <a:t>6.33</a:t>
            </a:r>
            <a:r>
              <a:rPr sz="1300" b="1" i="0">
                <a:solidFill>
                  <a:srgbClr val="2F63E6"/>
                </a:solidFill>
                <a:latin typeface="Segoe UI Semibold"/>
              </a:rPr>
              <a:t> ms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86274"/>
                </a:solidFill>
                <a:latin typeface="Segoe UI"/>
              </a:rPr>
              <a:t>mean one-way delay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288036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CF1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136391"/>
            <a:ext cx="1920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100" b="1" i="0">
                <a:solidFill>
                  <a:srgbClr val="1E8E5A"/>
                </a:solidFill>
                <a:latin typeface="Segoe UI Semibold"/>
              </a:rPr>
              <a:t>0</a:t>
            </a:r>
            <a:r>
              <a:rPr sz="1300" b="1" i="0">
                <a:solidFill>
                  <a:srgbClr val="1E8E5A"/>
                </a:solidFill>
                <a:latin typeface="Segoe UI Semibold"/>
              </a:rPr>
              <a:t> pkts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86274"/>
                </a:solidFill>
                <a:latin typeface="Segoe UI"/>
              </a:rPr>
              <a:t>over the 10 ms delay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6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IP-layer throughput is 30.69 Mbps: payload plus 28 B of IP+UDP header on each of the 27 119 packets — exactly the received byte count.</a:t>
            </a:r>
          </a:p>
          <a:p>
            <a:pPr algn="l">
              <a:lnSpc>
                <a:spcPct val="114999"/>
              </a:lnSpc>
              <a:spcAft>
                <a:spcPts val="6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Delay = 5 ms propagation + serialization + queueing behind the other ~45 packets of the same frame.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05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WIRESHARK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a2-xr-0-0.pcap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In Wireshark, each frame is a burst of packets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wireshark-1-packe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6675120" cy="3610633"/>
          </a:xfrm>
          <a:prstGeom prst="rect">
            <a:avLst/>
          </a:prstGeom>
          <a:ln w="12700">
            <a:solidFill>
              <a:srgbClr val="D9E0EA"/>
            </a:solidFill>
          </a:ln>
        </p:spPr>
      </p:pic>
      <p:pic>
        <p:nvPicPr>
          <p:cNvPr id="7" name="Picture 6" descr="wireshark-3-convers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988073"/>
            <a:ext cx="6675120" cy="577251"/>
          </a:xfrm>
          <a:prstGeom prst="rect">
            <a:avLst/>
          </a:prstGeom>
          <a:ln w="12700">
            <a:solidFill>
              <a:srgbClr val="D9E0E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18120" y="2240280"/>
            <a:ext cx="3520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1" i="0">
                <a:solidFill>
                  <a:srgbClr val="141A24"/>
                </a:solidFill>
                <a:latin typeface="Segoe UI"/>
              </a:rPr>
              <a:t>Packets 1–50: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1400 B, 57 µs apart.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1" i="0">
                <a:solidFill>
                  <a:srgbClr val="141A24"/>
                </a:solidFill>
                <a:latin typeface="Segoe UI"/>
              </a:rPr>
              <a:t>Packet 51: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397 B remainder → frame 0 is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70 397 B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, the same as the generator log.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1" i="0">
                <a:solidFill>
                  <a:srgbClr val="141A24"/>
                </a:solidFill>
                <a:latin typeface="Segoe UI"/>
              </a:rPr>
              <a:t>Packet 52: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11.49 ms later — the next frame starts.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1" i="0">
                <a:solidFill>
                  <a:srgbClr val="141A24"/>
                </a:solidFill>
                <a:latin typeface="Segoe UI"/>
              </a:rPr>
              <a:t>Conversations: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one UDP flow, 27 119 packets, 38 MB, 30 Mbps.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06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frame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Frame level: all three KS tests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dist_fram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5120640" cy="1862051"/>
          </a:xfrm>
          <a:prstGeom prst="rect">
            <a:avLst/>
          </a:prstGeom>
          <a:ln w="12700">
            <a:solidFill>
              <a:srgbClr val="D9E0EA"/>
            </a:solidFill>
          </a:ln>
        </p:spPr>
      </p:pic>
      <p:pic>
        <p:nvPicPr>
          <p:cNvPr id="7" name="Picture 6" descr="dist_frame_i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240280"/>
            <a:ext cx="5120640" cy="1862051"/>
          </a:xfrm>
          <a:prstGeom prst="rect">
            <a:avLst/>
          </a:prstGeom>
          <a:ln w="12700">
            <a:solidFill>
              <a:srgbClr val="D9E0E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68680" y="4376650"/>
            <a:ext cx="3337560" cy="13258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541242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FRAME SIZE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generated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62 588 / 6 542 B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model    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62 500 / 6 562 B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41A24"/>
                </a:solidFill>
                <a:latin typeface="Consolas"/>
              </a:rPr>
              <a:t>KS 0.030 &lt; 0.056  </a:t>
            </a:r>
            <a:r>
              <a:rPr sz="1300" b="1" i="0">
                <a:solidFill>
                  <a:srgbClr val="1E8E5A"/>
                </a:solidFill>
                <a:latin typeface="Consolas"/>
              </a:rPr>
              <a:t>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1980" y="4376650"/>
            <a:ext cx="3337560" cy="13258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0580" y="4541242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JITTER Jₖ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generated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0.04 / 1.70 ms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model    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0.00 / 1.76 ms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41A24"/>
                </a:solidFill>
                <a:latin typeface="Consolas"/>
              </a:rPr>
              <a:t>KS 0.032 &lt; 0.056  </a:t>
            </a:r>
            <a:r>
              <a:rPr sz="1300" b="1" i="0">
                <a:solidFill>
                  <a:srgbClr val="1E8E5A"/>
                </a:solidFill>
                <a:latin typeface="Consolas"/>
              </a:rPr>
              <a:t>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376650"/>
            <a:ext cx="3337560" cy="13258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541242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INTER-ARRIVAL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generated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16.66 / 2.42 ms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586274"/>
                </a:solidFill>
                <a:latin typeface="Consolas"/>
              </a:rPr>
              <a:t>model      </a:t>
            </a:r>
            <a:r>
              <a:rPr sz="1200" b="1" i="0">
                <a:solidFill>
                  <a:srgbClr val="141A24"/>
                </a:solidFill>
                <a:latin typeface="Segoe UI"/>
              </a:rPr>
              <a:t>16.67 / 2.50 ms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 i="0">
                <a:solidFill>
                  <a:srgbClr val="141A24"/>
                </a:solidFill>
                <a:latin typeface="Consolas"/>
              </a:rPr>
              <a:t>KS 0.027 &lt; 0.056  </a:t>
            </a:r>
            <a:r>
              <a:rPr sz="1300" b="1" i="0">
                <a:solidFill>
                  <a:srgbClr val="1E8E5A"/>
                </a:solidFill>
                <a:latin typeface="Consolas"/>
              </a:rPr>
              <a:t>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 spc="150">
                <a:solidFill>
                  <a:srgbClr val="8A94A4"/>
                </a:solidFill>
                <a:latin typeface="Consolas"/>
              </a:rPr>
              <a:t>07 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•  </a:t>
            </a:r>
            <a:r>
              <a:rPr sz="1400" b="1" i="0" spc="220">
                <a:solidFill>
                  <a:srgbClr val="2F63E6"/>
                </a:solidFill>
                <a:latin typeface="Consolas"/>
              </a:rPr>
              <a:t>PACKET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5852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i="0" spc="120">
                <a:solidFill>
                  <a:srgbClr val="8A94A4"/>
                </a:solidFill>
                <a:latin typeface="Consolas"/>
              </a:rPr>
              <a:t>pcap =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41A24"/>
                </a:solidFill>
                <a:latin typeface="Segoe UI Semibold"/>
              </a:rPr>
              <a:t>The wire carries what the generator made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938528"/>
            <a:ext cx="1920240" cy="0"/>
          </a:xfrm>
          <a:prstGeom prst="bentConnector3">
            <a:avLst/>
          </a:prstGeom>
          <a:ln w="254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dist_pa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6766560" cy="2460567"/>
          </a:xfrm>
          <a:prstGeom prst="rect">
            <a:avLst/>
          </a:prstGeom>
          <a:ln w="12700">
            <a:solidFill>
              <a:srgbClr val="D9E0E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909560" y="2240280"/>
            <a:ext cx="34290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97.788 %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 of packets are full 1400 B; the model predicts </a:t>
            </a:r>
            <a:r>
              <a:rPr sz="1400" b="1" i="0">
                <a:solidFill>
                  <a:srgbClr val="D97A2B"/>
                </a:solidFill>
                <a:latin typeface="Segoe UI"/>
              </a:rPr>
              <a:t>97.787 %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.</a:t>
            </a:r>
          </a:p>
          <a:p>
            <a:pPr algn="l">
              <a:lnSpc>
                <a:spcPct val="114999"/>
              </a:lnSpc>
              <a:spcAft>
                <a:spcPts val="1000"/>
              </a:spcAft>
            </a:pPr>
            <a:r>
              <a:rPr sz="1400" b="1" i="0">
                <a:solidFill>
                  <a:srgbClr val="2F63E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41A24"/>
                </a:solidFill>
                <a:latin typeface="Segoe UI"/>
              </a:rPr>
              <a:t>45.2 packets per frame; the rest are the per-frame remainders.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937760"/>
            <a:ext cx="10424160" cy="11887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02352"/>
            <a:ext cx="9966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50" b="1" i="0" spc="120">
                <a:solidFill>
                  <a:srgbClr val="8A94A4"/>
                </a:solidFill>
                <a:latin typeface="Consolas"/>
              </a:rPr>
              <a:t>WIRE CHECK — PCAP VS GENERATOR LOG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63E6"/>
                </a:solidFill>
                <a:latin typeface="Consolas"/>
              </a:rPr>
              <a:t>PCAP   </a:t>
            </a:r>
            <a:r>
              <a:rPr sz="1250" b="0" i="0">
                <a:solidFill>
                  <a:srgbClr val="586274"/>
                </a:solidFill>
                <a:latin typeface="Segoe UI"/>
              </a:rPr>
              <a:t>27 119 UDP packets · 37 553 066 payload bytes   (tshark, udp.length − 8)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63E6"/>
                </a:solidFill>
                <a:latin typeface="Consolas"/>
              </a:rPr>
              <a:t>CSV    </a:t>
            </a:r>
            <a:r>
              <a:rPr sz="1250" b="0" i="0">
                <a:solidFill>
                  <a:srgbClr val="586274"/>
                </a:solidFill>
                <a:latin typeface="Segoe UI"/>
              </a:rPr>
              <a:t>27 119 packets · 37 553 066 payload bytes   (xr-packets.csv)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