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6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874519"/>
            <a:ext cx="104241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500" b="1" i="0" spc="300">
                <a:solidFill>
                  <a:srgbClr val="2F63E6"/>
                </a:solidFill>
                <a:latin typeface="Consolas"/>
              </a:rPr>
              <a:t>ASSIGNMENT A2 · NS-3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4000" b="1" i="0">
                <a:solidFill>
                  <a:srgbClr val="141A24"/>
                </a:solidFill>
                <a:latin typeface="Segoe UI Semibold"/>
              </a:rPr>
              <a:t>ns-3 in Docker with a </a:t>
            </a:r>
            <a:r>
              <a:rPr sz="4000" b="1" i="0">
                <a:solidFill>
                  <a:srgbClr val="2F63E6"/>
                </a:solidFill>
                <a:latin typeface="Segoe UI Semibold"/>
              </a:rPr>
              <a:t>3GPP XR</a:t>
            </a:r>
            <a:r>
              <a:rPr sz="4000" b="1" i="0">
                <a:solidFill>
                  <a:srgbClr val="141A24"/>
                </a:solidFill>
                <a:latin typeface="Segoe UI Semibold"/>
              </a:rPr>
              <a:t> Traffic Model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900" b="0" i="0">
                <a:solidFill>
                  <a:srgbClr val="586274"/>
                </a:solidFill>
                <a:latin typeface="Segoe UI"/>
              </a:rPr>
              <a:t>Install it, run it, and prove it: throughput and delay, a Wireshark capture, and the generated traffic checked against the 3GPP spec.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8680" y="5440680"/>
            <a:ext cx="10424160" cy="0"/>
          </a:xfrm>
          <a:prstGeom prst="bentConnector3">
            <a:avLst/>
          </a:prstGeom>
          <a:ln w="15240">
            <a:solidFill>
              <a:srgbClr val="D9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68680" y="557784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1" i="0">
                <a:solidFill>
                  <a:srgbClr val="141A24"/>
                </a:solidFill>
                <a:latin typeface="Consolas"/>
              </a:rPr>
              <a:t>Student   </a:t>
            </a:r>
            <a:r>
              <a:rPr sz="1250" b="0" i="0">
                <a:solidFill>
                  <a:srgbClr val="8A94A4"/>
                </a:solidFill>
                <a:latin typeface="Consolas"/>
              </a:rPr>
              <a:t>M11402804 · Ahmad Rifqi Fadhlurrahman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1" i="0">
                <a:solidFill>
                  <a:srgbClr val="141A24"/>
                </a:solidFill>
                <a:latin typeface="Consolas"/>
              </a:rPr>
              <a:t>Spec      </a:t>
            </a:r>
            <a:r>
              <a:rPr sz="1250" b="0" i="0">
                <a:solidFill>
                  <a:srgbClr val="8A94A4"/>
                </a:solidFill>
                <a:latin typeface="Consolas"/>
              </a:rPr>
              <a:t>3GPP TR 26.926 V19.0.0 (ETSI TR 126 926) → TR 38.838 XR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 spc="150">
                <a:solidFill>
                  <a:srgbClr val="8A94A4"/>
                </a:solidFill>
                <a:latin typeface="Consolas"/>
              </a:rPr>
              <a:t>01   </a:t>
            </a:r>
            <a:r>
              <a:rPr sz="1400" b="1" i="0">
                <a:solidFill>
                  <a:srgbClr val="D97A2B"/>
                </a:solidFill>
                <a:latin typeface="Segoe UI"/>
              </a:rPr>
              <a:t>•  </a:t>
            </a:r>
            <a:r>
              <a:rPr sz="1400" b="1" i="0" spc="220">
                <a:solidFill>
                  <a:srgbClr val="2F63E6"/>
                </a:solidFill>
                <a:latin typeface="Consolas"/>
              </a:rPr>
              <a:t>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0" y="585216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150" b="0" i="0" spc="120">
                <a:solidFill>
                  <a:srgbClr val="8A94A4"/>
                </a:solidFill>
                <a:latin typeface="Consolas"/>
              </a:rPr>
              <a:t>docker · ns-3.48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14300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100" b="1" i="0">
                <a:solidFill>
                  <a:srgbClr val="141A24"/>
                </a:solidFill>
                <a:latin typeface="Segoe UI Semibold"/>
              </a:rPr>
              <a:t>One Docker image, one pinned ns-3 release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1938528"/>
            <a:ext cx="1920240" cy="0"/>
          </a:xfrm>
          <a:prstGeom prst="bentConnector3">
            <a:avLst/>
          </a:prstGeom>
          <a:ln w="25400">
            <a:solidFill>
              <a:srgbClr val="D9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68680" y="2331720"/>
            <a:ext cx="60350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999"/>
              </a:lnSpc>
              <a:spcAft>
                <a:spcPts val="1100"/>
              </a:spcAft>
            </a:pPr>
            <a:r>
              <a:rPr sz="1600" b="1" i="0">
                <a:solidFill>
                  <a:srgbClr val="2F63E6"/>
                </a:solidFill>
                <a:latin typeface="Segoe UI"/>
              </a:rPr>
              <a:t>▪  </a:t>
            </a:r>
            <a:r>
              <a:rPr sz="1600" b="1" i="0">
                <a:solidFill>
                  <a:srgbClr val="141A24"/>
                </a:solidFill>
                <a:latin typeface="Segoe UI"/>
              </a:rPr>
              <a:t>Docker image</a:t>
            </a:r>
            <a:r>
              <a:rPr sz="1600" b="0" i="0">
                <a:solidFill>
                  <a:srgbClr val="141A24"/>
                </a:solidFill>
                <a:latin typeface="Segoe UI"/>
              </a:rPr>
              <a:t> (Ubuntu 24.04) holds the toolchain, tshark and Python plotting — built in 3 min, 1.1 GB.</a:t>
            </a:r>
          </a:p>
          <a:p>
            <a:pPr algn="l">
              <a:lnSpc>
                <a:spcPct val="114999"/>
              </a:lnSpc>
              <a:spcAft>
                <a:spcPts val="1100"/>
              </a:spcAft>
            </a:pPr>
            <a:r>
              <a:rPr sz="1600" b="1" i="0">
                <a:solidFill>
                  <a:srgbClr val="2F63E6"/>
                </a:solidFill>
                <a:latin typeface="Segoe UI"/>
              </a:rPr>
              <a:t>▪  </a:t>
            </a:r>
            <a:r>
              <a:rPr sz="1600" b="1" i="0">
                <a:solidFill>
                  <a:srgbClr val="141A24"/>
                </a:solidFill>
                <a:latin typeface="Segoe UI"/>
              </a:rPr>
              <a:t>ns-3 source</a:t>
            </a:r>
            <a:r>
              <a:rPr sz="1600" b="0" i="0">
                <a:solidFill>
                  <a:srgbClr val="141A24"/>
                </a:solidFill>
                <a:latin typeface="Segoe UI"/>
              </a:rPr>
              <a:t> lives in a host folder mounted into the container, so code and results survive the container.</a:t>
            </a:r>
          </a:p>
          <a:p>
            <a:pPr algn="l">
              <a:lnSpc>
                <a:spcPct val="114999"/>
              </a:lnSpc>
              <a:spcAft>
                <a:spcPts val="1100"/>
              </a:spcAft>
            </a:pPr>
            <a:r>
              <a:rPr sz="1600" b="1" i="0">
                <a:solidFill>
                  <a:srgbClr val="2F63E6"/>
                </a:solidFill>
                <a:latin typeface="Segoe UI"/>
              </a:rPr>
              <a:t>▪  </a:t>
            </a:r>
            <a:r>
              <a:rPr sz="1600" b="0" i="0">
                <a:solidFill>
                  <a:srgbClr val="141A24"/>
                </a:solidFill>
                <a:latin typeface="Segoe UI"/>
              </a:rPr>
              <a:t>Pinned to </a:t>
            </a:r>
            <a:r>
              <a:rPr sz="1500" b="0" i="0">
                <a:solidFill>
                  <a:srgbClr val="2F63E6"/>
                </a:solidFill>
                <a:latin typeface="Consolas"/>
              </a:rPr>
              <a:t>ns-3.48</a:t>
            </a:r>
            <a:r>
              <a:rPr sz="1600" b="0" i="0">
                <a:solidFill>
                  <a:srgbClr val="141A24"/>
                </a:solidFill>
                <a:latin typeface="Segoe UI"/>
              </a:rPr>
              <a:t>, built optimized with examples and tests: ~2 000 targets in 21 min on 20 cores.</a:t>
            </a:r>
          </a:p>
          <a:p>
            <a:pPr algn="l">
              <a:lnSpc>
                <a:spcPct val="114999"/>
              </a:lnSpc>
              <a:spcAft>
                <a:spcPts val="1100"/>
              </a:spcAft>
            </a:pPr>
            <a:r>
              <a:rPr sz="1600" b="1" i="0">
                <a:solidFill>
                  <a:srgbClr val="2F63E6"/>
                </a:solidFill>
                <a:latin typeface="Segoe UI"/>
              </a:rPr>
              <a:t>▪  </a:t>
            </a:r>
            <a:r>
              <a:rPr sz="1600" b="0" i="0">
                <a:solidFill>
                  <a:srgbClr val="141A24"/>
                </a:solidFill>
                <a:latin typeface="Segoe UI"/>
              </a:rPr>
              <a:t>Smoke test </a:t>
            </a:r>
            <a:r>
              <a:rPr sz="1500" b="0" i="0">
                <a:solidFill>
                  <a:srgbClr val="2F63E6"/>
                </a:solidFill>
                <a:latin typeface="Consolas"/>
              </a:rPr>
              <a:t>./test.py --suite=udp</a:t>
            </a:r>
            <a:r>
              <a:rPr sz="1600" b="0" i="0">
                <a:solidFill>
                  <a:srgbClr val="141A24"/>
                </a:solidFill>
                <a:latin typeface="Segoe UI"/>
              </a:rPr>
              <a:t> → </a:t>
            </a:r>
            <a:r>
              <a:rPr sz="1600" b="1" i="0">
                <a:solidFill>
                  <a:srgbClr val="1E8E5A"/>
                </a:solidFill>
                <a:latin typeface="Segoe UI"/>
              </a:rPr>
              <a:t>PASS</a:t>
            </a:r>
            <a:r>
              <a:rPr sz="1600" b="0" i="0">
                <a:solidFill>
                  <a:srgbClr val="141A24"/>
                </a:solidFill>
                <a:latin typeface="Segoe U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2331720"/>
            <a:ext cx="4023360" cy="251460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0" y="2496312"/>
            <a:ext cx="3566160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950" b="1" i="0" spc="120">
                <a:solidFill>
                  <a:srgbClr val="8A94A4"/>
                </a:solidFill>
                <a:latin typeface="Consolas"/>
              </a:rPr>
              <a:t>ENVIRONMENT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1" i="0">
                <a:solidFill>
                  <a:srgbClr val="2F63E6"/>
                </a:solidFill>
                <a:latin typeface="Consolas"/>
              </a:rPr>
              <a:t>Host        </a:t>
            </a:r>
            <a:r>
              <a:rPr sz="1150" b="0" i="0">
                <a:solidFill>
                  <a:srgbClr val="586274"/>
                </a:solidFill>
                <a:latin typeface="Segoe UI"/>
              </a:rPr>
              <a:t>Ubuntu 22.04.5, 20 cores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1" i="0">
                <a:solidFill>
                  <a:srgbClr val="2F63E6"/>
                </a:solidFill>
                <a:latin typeface="Consolas"/>
              </a:rPr>
              <a:t>Docker      </a:t>
            </a:r>
            <a:r>
              <a:rPr sz="1150" b="0" i="0">
                <a:solidFill>
                  <a:srgbClr val="586274"/>
                </a:solidFill>
                <a:latin typeface="Segoe UI"/>
              </a:rPr>
              <a:t>28.3.0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1" i="0">
                <a:solidFill>
                  <a:srgbClr val="2F63E6"/>
                </a:solidFill>
                <a:latin typeface="Consolas"/>
              </a:rPr>
              <a:t>Container   </a:t>
            </a:r>
            <a:r>
              <a:rPr sz="1150" b="0" i="0">
                <a:solidFill>
                  <a:srgbClr val="586274"/>
                </a:solidFill>
                <a:latin typeface="Segoe UI"/>
              </a:rPr>
              <a:t>Ubuntu 24.04.5 LTS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1" i="0">
                <a:solidFill>
                  <a:srgbClr val="2F63E6"/>
                </a:solidFill>
                <a:latin typeface="Consolas"/>
              </a:rPr>
              <a:t>ns-3        </a:t>
            </a:r>
            <a:r>
              <a:rPr sz="1150" b="0" i="0">
                <a:solidFill>
                  <a:srgbClr val="586274"/>
                </a:solidFill>
                <a:latin typeface="Segoe UI"/>
              </a:rPr>
              <a:t>ns-3.48 (optimized)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1" i="0">
                <a:solidFill>
                  <a:srgbClr val="2F63E6"/>
                </a:solidFill>
                <a:latin typeface="Consolas"/>
              </a:rPr>
              <a:t>Compiler    </a:t>
            </a:r>
            <a:r>
              <a:rPr sz="1150" b="0" i="0">
                <a:solidFill>
                  <a:srgbClr val="586274"/>
                </a:solidFill>
                <a:latin typeface="Segoe UI"/>
              </a:rPr>
              <a:t>g++ 13.3.0 · CMake 3.28.3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1" i="0">
                <a:solidFill>
                  <a:srgbClr val="2F63E6"/>
                </a:solidFill>
                <a:latin typeface="Consolas"/>
              </a:rPr>
              <a:t>Tools       </a:t>
            </a:r>
            <a:r>
              <a:rPr sz="1150" b="0" i="0">
                <a:solidFill>
                  <a:srgbClr val="586274"/>
                </a:solidFill>
                <a:latin typeface="Segoe UI"/>
              </a:rPr>
              <a:t>Python 3.12.3 · Wireshark 4.2.2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 spc="150">
                <a:solidFill>
                  <a:srgbClr val="8A94A4"/>
                </a:solidFill>
                <a:latin typeface="Consolas"/>
              </a:rPr>
              <a:t>02   </a:t>
            </a:r>
            <a:r>
              <a:rPr sz="1400" b="1" i="0">
                <a:solidFill>
                  <a:srgbClr val="D97A2B"/>
                </a:solidFill>
                <a:latin typeface="Segoe UI"/>
              </a:rPr>
              <a:t>•  </a:t>
            </a:r>
            <a:r>
              <a:rPr sz="1400" b="1" i="0" spc="220">
                <a:solidFill>
                  <a:srgbClr val="2F63E6"/>
                </a:solidFill>
                <a:latin typeface="Consolas"/>
              </a:rPr>
              <a:t>WHAT BROKE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0" y="585216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150" b="0" i="0" spc="120">
                <a:solidFill>
                  <a:srgbClr val="8A94A4"/>
                </a:solidFill>
                <a:latin typeface="Consolas"/>
              </a:rPr>
              <a:t>and the fixes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14300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100" b="1" i="0">
                <a:solidFill>
                  <a:srgbClr val="141A24"/>
                </a:solidFill>
                <a:latin typeface="Segoe UI Semibold"/>
              </a:rPr>
              <a:t>What broke on the way — and how it was fixed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1938528"/>
            <a:ext cx="1920240" cy="0"/>
          </a:xfrm>
          <a:prstGeom prst="bentConnector3">
            <a:avLst/>
          </a:prstGeom>
          <a:ln w="25400">
            <a:solidFill>
              <a:srgbClr val="D9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68680" y="2286000"/>
            <a:ext cx="104241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999"/>
              </a:lnSpc>
              <a:spcAft>
                <a:spcPts val="1000"/>
              </a:spcAft>
            </a:pPr>
            <a:r>
              <a:rPr sz="1600" b="1" i="0">
                <a:solidFill>
                  <a:srgbClr val="2F63E6"/>
                </a:solidFill>
                <a:latin typeface="Segoe UI"/>
              </a:rPr>
              <a:t>▪  </a:t>
            </a:r>
            <a:r>
              <a:rPr sz="1600" b="1" i="0">
                <a:solidFill>
                  <a:srgbClr val="141A24"/>
                </a:solidFill>
                <a:latin typeface="Segoe UI"/>
              </a:rPr>
              <a:t>Disk full: </a:t>
            </a:r>
            <a:r>
              <a:rPr sz="1600" b="0" i="0">
                <a:solidFill>
                  <a:srgbClr val="141A24"/>
                </a:solidFill>
                <a:latin typeface="Segoe UI"/>
              </a:rPr>
              <a:t>/ at 100 % (398 MB free) blocked docker build → removed two unused images, freeing ~20 GB.</a:t>
            </a:r>
          </a:p>
          <a:p>
            <a:pPr algn="l">
              <a:lnSpc>
                <a:spcPct val="114999"/>
              </a:lnSpc>
              <a:spcAft>
                <a:spcPts val="1000"/>
              </a:spcAft>
            </a:pPr>
            <a:r>
              <a:rPr sz="1600" b="1" i="0">
                <a:solidFill>
                  <a:srgbClr val="2F63E6"/>
                </a:solidFill>
                <a:latin typeface="Segoe UI"/>
              </a:rPr>
              <a:t>▪  </a:t>
            </a:r>
            <a:r>
              <a:rPr sz="1600" b="1" i="0">
                <a:solidFill>
                  <a:srgbClr val="141A24"/>
                </a:solidFill>
                <a:latin typeface="Segoe UI"/>
              </a:rPr>
              <a:t>Silent smoke test: </a:t>
            </a:r>
            <a:r>
              <a:rPr sz="1500" b="0" i="0">
                <a:solidFill>
                  <a:srgbClr val="2F63E6"/>
                </a:solidFill>
                <a:latin typeface="Consolas"/>
              </a:rPr>
              <a:t>./ns3 run first</a:t>
            </a:r>
            <a:r>
              <a:rPr sz="1600" b="0" i="0">
                <a:solidFill>
                  <a:srgbClr val="141A24"/>
                </a:solidFill>
                <a:latin typeface="Segoe UI"/>
              </a:rPr>
              <a:t> prints nothing in the optimized profile (logging compiled out) → use </a:t>
            </a:r>
            <a:r>
              <a:rPr sz="1500" b="0" i="0">
                <a:solidFill>
                  <a:srgbClr val="2F63E6"/>
                </a:solidFill>
                <a:latin typeface="Consolas"/>
              </a:rPr>
              <a:t>test.py --suite=udp</a:t>
            </a:r>
            <a:r>
              <a:rPr sz="1600" b="0" i="0">
                <a:solidFill>
                  <a:srgbClr val="141A24"/>
                </a:solidFill>
                <a:latin typeface="Segoe UI"/>
              </a:rPr>
              <a:t>.</a:t>
            </a:r>
          </a:p>
          <a:p>
            <a:pPr algn="l">
              <a:lnSpc>
                <a:spcPct val="114999"/>
              </a:lnSpc>
              <a:spcAft>
                <a:spcPts val="1000"/>
              </a:spcAft>
            </a:pPr>
            <a:r>
              <a:rPr sz="1600" b="1" i="0">
                <a:solidFill>
                  <a:srgbClr val="2F63E6"/>
                </a:solidFill>
                <a:latin typeface="Segoe UI"/>
              </a:rPr>
              <a:t>▪  </a:t>
            </a:r>
            <a:r>
              <a:rPr sz="1600" b="1" i="0">
                <a:solidFill>
                  <a:srgbClr val="141A24"/>
                </a:solidFill>
                <a:latin typeface="Segoe UI"/>
              </a:rPr>
              <a:t>Lost frames: </a:t>
            </a:r>
            <a:r>
              <a:rPr sz="1600" b="0" i="0">
                <a:solidFill>
                  <a:srgbClr val="141A24"/>
                </a:solidFill>
                <a:latin typeface="Segoe UI"/>
              </a:rPr>
              <a:t>one UDP datagram per frame failed silently above 65 507 B — only 407 of 600 frames arrived → fragment into 1400 B packets and count every failed send.</a:t>
            </a:r>
          </a:p>
          <a:p>
            <a:pPr algn="l">
              <a:lnSpc>
                <a:spcPct val="114999"/>
              </a:lnSpc>
              <a:spcAft>
                <a:spcPts val="1000"/>
              </a:spcAft>
            </a:pPr>
            <a:r>
              <a:rPr sz="1600" b="1" i="0">
                <a:solidFill>
                  <a:srgbClr val="2F63E6"/>
                </a:solidFill>
                <a:latin typeface="Segoe UI"/>
              </a:rPr>
              <a:t>▪  </a:t>
            </a:r>
            <a:r>
              <a:rPr sz="1600" b="1" i="0">
                <a:solidFill>
                  <a:srgbClr val="141A24"/>
                </a:solidFill>
                <a:latin typeface="Segoe UI"/>
              </a:rPr>
              <a:t>Wrong truncation: </a:t>
            </a:r>
            <a:r>
              <a:rPr sz="1600" b="0" i="0">
                <a:solidFill>
                  <a:srgbClr val="141A24"/>
                </a:solidFill>
                <a:latin typeface="Segoe UI"/>
              </a:rPr>
              <a:t>frame size cut at ±3σ, but the spec says </a:t>
            </a:r>
            <a:r>
              <a:rPr sz="1600" b="1" i="0">
                <a:solidFill>
                  <a:srgbClr val="D97A2B"/>
                </a:solidFill>
                <a:latin typeface="Segoe UI"/>
              </a:rPr>
              <a:t>50 %–150 % of the mean</a:t>
            </a:r>
            <a:r>
              <a:rPr sz="1600" b="0" i="0">
                <a:solidFill>
                  <a:srgbClr val="141A24"/>
                </a:solidFill>
                <a:latin typeface="Segoe UI"/>
              </a:rPr>
              <a:t> → fixed per Table 6.5.3.1-1.</a:t>
            </a:r>
          </a:p>
          <a:p>
            <a:pPr algn="l">
              <a:lnSpc>
                <a:spcPct val="114999"/>
              </a:lnSpc>
              <a:spcAft>
                <a:spcPts val="1000"/>
              </a:spcAft>
            </a:pPr>
            <a:r>
              <a:rPr sz="1600" b="1" i="0">
                <a:solidFill>
                  <a:srgbClr val="2F63E6"/>
                </a:solidFill>
                <a:latin typeface="Segoe UI"/>
              </a:rPr>
              <a:t>▪  </a:t>
            </a:r>
            <a:r>
              <a:rPr sz="1600" b="1" i="0">
                <a:solidFill>
                  <a:srgbClr val="141A24"/>
                </a:solidFill>
                <a:latin typeface="Segoe UI"/>
              </a:rPr>
              <a:t>Wrong jitter: </a:t>
            </a:r>
            <a:r>
              <a:rPr sz="1600" b="0" i="0">
                <a:solidFill>
                  <a:srgbClr val="141A24"/>
                </a:solidFill>
                <a:latin typeface="Segoe UI"/>
              </a:rPr>
              <a:t>jitter accumulated into the inter-arrival time, but the spec adds it </a:t>
            </a:r>
            <a:r>
              <a:rPr sz="1600" b="1" i="0">
                <a:solidFill>
                  <a:srgbClr val="D97A2B"/>
                </a:solidFill>
                <a:latin typeface="Segoe UI"/>
              </a:rPr>
              <a:t>on top of periodic arrivals</a:t>
            </a:r>
            <a:r>
              <a:rPr sz="1600" b="0" i="0">
                <a:solidFill>
                  <a:srgbClr val="141A24"/>
                </a:solidFill>
                <a:latin typeface="Segoe UI"/>
              </a:rPr>
              <a:t> → schedule frame k at t₀ + k·T + J_k.</a:t>
            </a:r>
          </a:p>
          <a:p>
            <a:pPr algn="l">
              <a:lnSpc>
                <a:spcPct val="114999"/>
              </a:lnSpc>
              <a:spcAft>
                <a:spcPts val="1000"/>
              </a:spcAft>
            </a:pPr>
            <a:r>
              <a:rPr sz="1600" b="1" i="0">
                <a:solidFill>
                  <a:srgbClr val="2F63E6"/>
                </a:solidFill>
                <a:latin typeface="Segoe UI"/>
              </a:rPr>
              <a:t>▪  </a:t>
            </a:r>
            <a:r>
              <a:rPr sz="1600" b="1" i="0">
                <a:solidFill>
                  <a:srgbClr val="141A24"/>
                </a:solidFill>
                <a:latin typeface="Segoe UI"/>
              </a:rPr>
              <a:t>Misleading decode: </a:t>
            </a:r>
            <a:r>
              <a:rPr sz="1600" b="0" i="0">
                <a:solidFill>
                  <a:srgbClr val="141A24"/>
                </a:solidFill>
                <a:latin typeface="Segoe UI"/>
              </a:rPr>
              <a:t>Wireshark showed port 5000 as protocol TAPA → moved the flow to port 40000.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 spc="150">
                <a:solidFill>
                  <a:srgbClr val="8A94A4"/>
                </a:solidFill>
                <a:latin typeface="Consolas"/>
              </a:rPr>
              <a:t>03   </a:t>
            </a:r>
            <a:r>
              <a:rPr sz="1400" b="1" i="0">
                <a:solidFill>
                  <a:srgbClr val="D97A2B"/>
                </a:solidFill>
                <a:latin typeface="Segoe UI"/>
              </a:rPr>
              <a:t>•  </a:t>
            </a:r>
            <a:r>
              <a:rPr sz="1400" b="1" i="0" spc="220">
                <a:solidFill>
                  <a:srgbClr val="2F63E6"/>
                </a:solidFill>
                <a:latin typeface="Consolas"/>
              </a:rPr>
              <a:t>TRAFFIC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0" y="585216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150" b="0" i="0" spc="120">
                <a:solidFill>
                  <a:srgbClr val="8A94A4"/>
                </a:solidFill>
                <a:latin typeface="Consolas"/>
              </a:rPr>
              <a:t>TR 26.926 → TR 38.838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14300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100" b="1" i="0">
                <a:solidFill>
                  <a:srgbClr val="141A24"/>
                </a:solidFill>
                <a:latin typeface="Segoe UI Semibold"/>
              </a:rPr>
              <a:t>The 3GPP XR downlink video model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1938528"/>
            <a:ext cx="1920240" cy="0"/>
          </a:xfrm>
          <a:prstGeom prst="bentConnector3">
            <a:avLst/>
          </a:prstGeom>
          <a:ln w="25400">
            <a:solidFill>
              <a:srgbClr val="D9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68680" y="2331720"/>
            <a:ext cx="61264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999"/>
              </a:lnSpc>
              <a:spcAft>
                <a:spcPts val="900"/>
              </a:spcAft>
            </a:pPr>
            <a:r>
              <a:rPr sz="1500" b="1" i="0">
                <a:solidFill>
                  <a:srgbClr val="2F63E6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141A24"/>
                </a:solidFill>
                <a:latin typeface="Segoe UI"/>
              </a:rPr>
              <a:t>§6.4: </a:t>
            </a:r>
            <a:r>
              <a:rPr sz="1500" b="0" i="0">
                <a:solidFill>
                  <a:srgbClr val="141A24"/>
                </a:solidFill>
                <a:latin typeface="Segoe UI"/>
              </a:rPr>
              <a:t>60 fps at 30 or 45 Mbit/s.</a:t>
            </a:r>
          </a:p>
          <a:p>
            <a:pPr algn="l">
              <a:lnSpc>
                <a:spcPct val="114999"/>
              </a:lnSpc>
              <a:spcAft>
                <a:spcPts val="900"/>
              </a:spcAft>
            </a:pPr>
            <a:r>
              <a:rPr sz="1500" b="1" i="0">
                <a:solidFill>
                  <a:srgbClr val="2F63E6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141A24"/>
                </a:solidFill>
                <a:latin typeface="Segoe UI"/>
              </a:rPr>
              <a:t>§6.5.3.1, Table 6.5.3.1-1: </a:t>
            </a:r>
            <a:r>
              <a:rPr sz="1500" b="0" i="0">
                <a:solidFill>
                  <a:srgbClr val="141A24"/>
                </a:solidFill>
                <a:latin typeface="Segoe UI"/>
              </a:rPr>
              <a:t>frame size is a truncated Gaussian — STD 10.5 %, Min 50 %, Max 150 % of the mean.</a:t>
            </a:r>
          </a:p>
          <a:p>
            <a:pPr algn="l">
              <a:lnSpc>
                <a:spcPct val="114999"/>
              </a:lnSpc>
              <a:spcAft>
                <a:spcPts val="900"/>
              </a:spcAft>
            </a:pPr>
            <a:r>
              <a:rPr sz="1500" b="1" i="0">
                <a:solidFill>
                  <a:srgbClr val="2F63E6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141A24"/>
                </a:solidFill>
                <a:latin typeface="Segoe UI"/>
              </a:rPr>
              <a:t>§6.5.3.2: </a:t>
            </a:r>
            <a:r>
              <a:rPr sz="1500" b="0" i="0">
                <a:solidFill>
                  <a:srgbClr val="141A24"/>
                </a:solidFill>
                <a:latin typeface="Segoe UI"/>
              </a:rPr>
              <a:t>jitter is a truncated Gaussian </a:t>
            </a:r>
            <a:r>
              <a:rPr sz="1500" b="1" i="0">
                <a:solidFill>
                  <a:srgbClr val="D97A2B"/>
                </a:solidFill>
                <a:latin typeface="Segoe UI"/>
              </a:rPr>
              <a:t>added on top of periodic arrivals</a:t>
            </a:r>
            <a:r>
              <a:rPr sz="1500" b="0" i="0">
                <a:solidFill>
                  <a:srgbClr val="141A24"/>
                </a:solidFill>
                <a:latin typeface="Segoe UI"/>
              </a:rPr>
              <a:t> (TR 38.838: mean 0, STD 2 ms, ±4 ms).</a:t>
            </a:r>
          </a:p>
          <a:p>
            <a:pPr algn="l">
              <a:lnSpc>
                <a:spcPct val="114999"/>
              </a:lnSpc>
              <a:spcAft>
                <a:spcPts val="900"/>
              </a:spcAft>
            </a:pPr>
            <a:r>
              <a:rPr sz="1500" b="1" i="0">
                <a:solidFill>
                  <a:srgbClr val="2F63E6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141A24"/>
                </a:solidFill>
                <a:latin typeface="Segoe UI"/>
              </a:rPr>
              <a:t>§5.7.2: </a:t>
            </a:r>
            <a:r>
              <a:rPr sz="1500" b="0" i="0">
                <a:solidFill>
                  <a:srgbClr val="141A24"/>
                </a:solidFill>
                <a:latin typeface="Segoe UI"/>
              </a:rPr>
              <a:t>each frame is fragmented into IP packets — here ≤ 1400 B UDP payload, ~45 packets per frame.</a:t>
            </a:r>
          </a:p>
          <a:p>
            <a:pPr algn="l">
              <a:lnSpc>
                <a:spcPct val="114999"/>
              </a:lnSpc>
              <a:spcAft>
                <a:spcPts val="900"/>
              </a:spcAft>
            </a:pPr>
            <a:r>
              <a:rPr sz="1500" b="1" i="0">
                <a:solidFill>
                  <a:srgbClr val="2F63E6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141A24"/>
                </a:solidFill>
                <a:latin typeface="Segoe UI"/>
              </a:rPr>
              <a:t>Delay budget: </a:t>
            </a:r>
            <a:r>
              <a:rPr sz="1500" b="0" i="0">
                <a:solidFill>
                  <a:srgbClr val="141A24"/>
                </a:solidFill>
                <a:latin typeface="Segoe UI"/>
              </a:rPr>
              <a:t>10 ms per packet for VR.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2331720"/>
            <a:ext cx="4023360" cy="1691640"/>
          </a:xfrm>
          <a:prstGeom prst="roundRect">
            <a:avLst>
              <a:gd name="adj" fmla="val 9000"/>
            </a:avLst>
          </a:prstGeom>
          <a:solidFill>
            <a:srgbClr val="ECF1FC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0" y="2487168"/>
            <a:ext cx="356616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1000"/>
              </a:spcAft>
            </a:pPr>
            <a:r>
              <a:rPr sz="950" b="1" i="0" spc="80">
                <a:solidFill>
                  <a:srgbClr val="2F63E6"/>
                </a:solidFill>
                <a:latin typeface="Consolas"/>
              </a:rPr>
              <a:t>FRAME k OF THE MODEL</a:t>
            </a:r>
          </a:p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900" b="0" i="1">
                <a:solidFill>
                  <a:srgbClr val="141A24"/>
                </a:solidFill>
                <a:latin typeface="Segoe UI"/>
              </a:rPr>
              <a:t>t</a:t>
            </a:r>
            <a:r>
              <a:rPr sz="1900" b="0" i="1" baseline="-25000">
                <a:solidFill>
                  <a:srgbClr val="141A24"/>
                </a:solidFill>
                <a:latin typeface="Segoe UI"/>
              </a:rPr>
              <a:t>k</a:t>
            </a:r>
            <a:r>
              <a:rPr sz="1900" b="0" i="0">
                <a:solidFill>
                  <a:srgbClr val="141A24"/>
                </a:solidFill>
                <a:latin typeface="Segoe UI"/>
              </a:rPr>
              <a:t> = t</a:t>
            </a:r>
            <a:r>
              <a:rPr sz="1900" b="0" i="0" baseline="-25000">
                <a:solidFill>
                  <a:srgbClr val="141A24"/>
                </a:solidFill>
                <a:latin typeface="Segoe UI"/>
              </a:rPr>
              <a:t>0</a:t>
            </a:r>
            <a:r>
              <a:rPr sz="1900" b="0" i="0">
                <a:solidFill>
                  <a:srgbClr val="141A24"/>
                </a:solidFill>
                <a:latin typeface="Segoe UI"/>
              </a:rPr>
              <a:t> + k·T + J</a:t>
            </a:r>
            <a:r>
              <a:rPr sz="1900" b="0" i="0" baseline="-25000">
                <a:solidFill>
                  <a:srgbClr val="141A24"/>
                </a:solidFill>
                <a:latin typeface="Segoe UI"/>
              </a:rPr>
              <a:t>k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1">
                <a:solidFill>
                  <a:srgbClr val="141A24"/>
                </a:solidFill>
                <a:latin typeface="Segoe UI"/>
              </a:rPr>
              <a:t>S</a:t>
            </a:r>
            <a:r>
              <a:rPr sz="1900" b="0" i="1" baseline="-25000">
                <a:solidFill>
                  <a:srgbClr val="141A24"/>
                </a:solidFill>
                <a:latin typeface="Segoe UI"/>
              </a:rPr>
              <a:t>k</a:t>
            </a:r>
            <a:r>
              <a:rPr sz="1450" b="0" i="0">
                <a:solidFill>
                  <a:srgbClr val="141A24"/>
                </a:solidFill>
                <a:latin typeface="Segoe UI"/>
              </a:rPr>
              <a:t> ~ N(M, 0.105M) in [0.5M, 1.5M]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4251960"/>
            <a:ext cx="4023360" cy="173736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4416552"/>
            <a:ext cx="3566160" cy="1463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950" b="1" i="0" spc="120">
                <a:solidFill>
                  <a:srgbClr val="8A94A4"/>
                </a:solidFill>
                <a:latin typeface="Consolas"/>
              </a:rPr>
              <a:t>WHAT EACH SYMBOL MEANS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1" i="0">
                <a:solidFill>
                  <a:srgbClr val="2F63E6"/>
                </a:solidFill>
                <a:latin typeface="Consolas"/>
              </a:rPr>
              <a:t>T     </a:t>
            </a:r>
            <a:r>
              <a:rPr sz="1200" b="0" i="0">
                <a:solidFill>
                  <a:srgbClr val="586274"/>
                </a:solidFill>
                <a:latin typeface="Segoe UI"/>
              </a:rPr>
              <a:t>frame period = 1/60 s = 16.67 ms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1" i="0">
                <a:solidFill>
                  <a:srgbClr val="2F63E6"/>
                </a:solidFill>
                <a:latin typeface="Consolas"/>
              </a:rPr>
              <a:t>Jₖ    </a:t>
            </a:r>
            <a:r>
              <a:rPr sz="1200" b="0" i="0">
                <a:solidFill>
                  <a:srgbClr val="586274"/>
                </a:solidFill>
                <a:latin typeface="Segoe UI"/>
              </a:rPr>
              <a:t>jitter, N(0, 2 ms) cut at ±4 ms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1" i="0">
                <a:solidFill>
                  <a:srgbClr val="2F63E6"/>
                </a:solidFill>
                <a:latin typeface="Consolas"/>
              </a:rPr>
              <a:t>Sₖ    </a:t>
            </a:r>
            <a:r>
              <a:rPr sz="1200" b="0" i="0">
                <a:solidFill>
                  <a:srgbClr val="586274"/>
                </a:solidFill>
                <a:latin typeface="Segoe UI"/>
              </a:rPr>
              <a:t>size of frame k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1" i="0">
                <a:solidFill>
                  <a:srgbClr val="2F63E6"/>
                </a:solidFill>
                <a:latin typeface="Consolas"/>
              </a:rPr>
              <a:t>M     </a:t>
            </a:r>
            <a:r>
              <a:rPr sz="1200" b="0" i="0">
                <a:solidFill>
                  <a:srgbClr val="586274"/>
                </a:solidFill>
                <a:latin typeface="Segoe UI"/>
              </a:rPr>
              <a:t>R / (8·F) = 62 500 B at 30 Mbit/s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 spc="150">
                <a:solidFill>
                  <a:srgbClr val="8A94A4"/>
                </a:solidFill>
                <a:latin typeface="Consolas"/>
              </a:rPr>
              <a:t>04   </a:t>
            </a:r>
            <a:r>
              <a:rPr sz="1400" b="1" i="0">
                <a:solidFill>
                  <a:srgbClr val="D97A2B"/>
                </a:solidFill>
                <a:latin typeface="Segoe UI"/>
              </a:rPr>
              <a:t>•  </a:t>
            </a:r>
            <a:r>
              <a:rPr sz="1400" b="1" i="0" spc="220">
                <a:solidFill>
                  <a:srgbClr val="2F63E6"/>
                </a:solidFill>
                <a:latin typeface="Consolas"/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0" y="585216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150" b="0" i="0" spc="120">
                <a:solidFill>
                  <a:srgbClr val="8A94A4"/>
                </a:solidFill>
                <a:latin typeface="Consolas"/>
              </a:rPr>
              <a:t>flowmonitor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14300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100" b="1" i="0">
                <a:solidFill>
                  <a:srgbClr val="141A24"/>
                </a:solidFill>
                <a:latin typeface="Segoe UI Semibold"/>
              </a:rPr>
              <a:t>30 Mbit/s delivered within the delay budget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1938528"/>
            <a:ext cx="1920240" cy="0"/>
          </a:xfrm>
          <a:prstGeom prst="bentConnector3">
            <a:avLst/>
          </a:prstGeom>
          <a:ln w="25400">
            <a:solidFill>
              <a:srgbClr val="D9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68680" y="224028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>
                <a:solidFill>
                  <a:srgbClr val="141A24"/>
                </a:solidFill>
                <a:latin typeface="Consolas"/>
              </a:rPr>
              <a:t>n0 </a:t>
            </a:r>
            <a:r>
              <a:rPr sz="1400" b="0" i="0">
                <a:solidFill>
                  <a:srgbClr val="2F63E6"/>
                </a:solidFill>
                <a:latin typeface="Consolas"/>
              </a:rPr>
              <a:t>── 200 Mbps · 5 ms ──▶</a:t>
            </a:r>
            <a:r>
              <a:rPr sz="1400" b="1" i="0">
                <a:solidFill>
                  <a:srgbClr val="141A24"/>
                </a:solidFill>
                <a:latin typeface="Consolas"/>
              </a:rPr>
              <a:t> n1   </a:t>
            </a:r>
            <a:r>
              <a:rPr sz="1400" b="0" i="0">
                <a:solidFill>
                  <a:srgbClr val="586274"/>
                </a:solidFill>
                <a:latin typeface="Consolas"/>
              </a:rPr>
              <a:t>UDP :40000 · 600 frames · 10 s · seed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880360"/>
            <a:ext cx="2468880" cy="1737360"/>
          </a:xfrm>
          <a:prstGeom prst="roundRect">
            <a:avLst>
              <a:gd name="adj" fmla="val 8000"/>
            </a:avLst>
          </a:prstGeom>
          <a:solidFill>
            <a:srgbClr val="ECF1FC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136391"/>
            <a:ext cx="1920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100" b="1" i="0">
                <a:solidFill>
                  <a:srgbClr val="2F63E6"/>
                </a:solidFill>
                <a:latin typeface="Segoe UI Semibold"/>
              </a:rPr>
              <a:t>30.04</a:t>
            </a:r>
            <a:r>
              <a:rPr sz="1300" b="1" i="0">
                <a:solidFill>
                  <a:srgbClr val="2F63E6"/>
                </a:solidFill>
                <a:latin typeface="Segoe UI Semibold"/>
              </a:rPr>
              <a:t> Mbps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586274"/>
                </a:solidFill>
                <a:latin typeface="Segoe UI"/>
              </a:rPr>
              <a:t>offered at the application (target 30)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2880360"/>
            <a:ext cx="2468880" cy="1737360"/>
          </a:xfrm>
          <a:prstGeom prst="roundRect">
            <a:avLst>
              <a:gd name="adj" fmla="val 8000"/>
            </a:avLst>
          </a:prstGeom>
          <a:solidFill>
            <a:srgbClr val="ECF1FC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60" y="3136391"/>
            <a:ext cx="1920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100" b="1" i="0">
                <a:solidFill>
                  <a:srgbClr val="1E8E5A"/>
                </a:solidFill>
                <a:latin typeface="Segoe UI Semibold"/>
              </a:rPr>
              <a:t>27 119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586274"/>
                </a:solidFill>
                <a:latin typeface="Segoe UI"/>
              </a:rPr>
              <a:t>packets sent = received, 0 lost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880360"/>
            <a:ext cx="2468880" cy="1737360"/>
          </a:xfrm>
          <a:prstGeom prst="roundRect">
            <a:avLst>
              <a:gd name="adj" fmla="val 8000"/>
            </a:avLst>
          </a:prstGeom>
          <a:solidFill>
            <a:srgbClr val="ECF1FC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3136391"/>
            <a:ext cx="1920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100" b="1" i="0">
                <a:solidFill>
                  <a:srgbClr val="2F63E6"/>
                </a:solidFill>
                <a:latin typeface="Segoe UI Semibold"/>
              </a:rPr>
              <a:t>6.33</a:t>
            </a:r>
            <a:r>
              <a:rPr sz="1300" b="1" i="0">
                <a:solidFill>
                  <a:srgbClr val="2F63E6"/>
                </a:solidFill>
                <a:latin typeface="Segoe UI Semibold"/>
              </a:rPr>
              <a:t> ms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586274"/>
                </a:solidFill>
                <a:latin typeface="Segoe UI"/>
              </a:rPr>
              <a:t>mean one-way delay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2880360"/>
            <a:ext cx="2468880" cy="1737360"/>
          </a:xfrm>
          <a:prstGeom prst="roundRect">
            <a:avLst>
              <a:gd name="adj" fmla="val 8000"/>
            </a:avLst>
          </a:prstGeom>
          <a:solidFill>
            <a:srgbClr val="ECF1FC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3136391"/>
            <a:ext cx="1920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100" b="1" i="0">
                <a:solidFill>
                  <a:srgbClr val="1E8E5A"/>
                </a:solidFill>
                <a:latin typeface="Segoe UI Semibold"/>
              </a:rPr>
              <a:t>0</a:t>
            </a:r>
            <a:r>
              <a:rPr sz="1300" b="1" i="0">
                <a:solidFill>
                  <a:srgbClr val="1E8E5A"/>
                </a:solidFill>
                <a:latin typeface="Segoe UI Semibold"/>
              </a:rPr>
              <a:t> pkts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586274"/>
                </a:solidFill>
                <a:latin typeface="Segoe UI"/>
              </a:rPr>
              <a:t>over the 10 ms delay budget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937760"/>
            <a:ext cx="10424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999"/>
              </a:lnSpc>
              <a:spcAft>
                <a:spcPts val="600"/>
              </a:spcAft>
            </a:pPr>
            <a:r>
              <a:rPr sz="1400" b="1" i="0">
                <a:solidFill>
                  <a:srgbClr val="2F63E6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41A24"/>
                </a:solidFill>
                <a:latin typeface="Segoe UI"/>
              </a:rPr>
              <a:t>IP-layer throughput is 30.69 Mbps: payload plus 28 B of IP+UDP header on each of the 27 119 packets — exactly the received byte count.</a:t>
            </a:r>
          </a:p>
          <a:p>
            <a:pPr algn="l">
              <a:lnSpc>
                <a:spcPct val="114999"/>
              </a:lnSpc>
              <a:spcAft>
                <a:spcPts val="600"/>
              </a:spcAft>
            </a:pPr>
            <a:r>
              <a:rPr sz="1400" b="1" i="0">
                <a:solidFill>
                  <a:srgbClr val="2F63E6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41A24"/>
                </a:solidFill>
                <a:latin typeface="Segoe UI"/>
              </a:rPr>
              <a:t>Delay = 5 ms propagation + serialization + queueing behind the other ~45 packets of the same frame.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 spc="150">
                <a:solidFill>
                  <a:srgbClr val="8A94A4"/>
                </a:solidFill>
                <a:latin typeface="Consolas"/>
              </a:rPr>
              <a:t>05   </a:t>
            </a:r>
            <a:r>
              <a:rPr sz="1400" b="1" i="0">
                <a:solidFill>
                  <a:srgbClr val="D97A2B"/>
                </a:solidFill>
                <a:latin typeface="Segoe UI"/>
              </a:rPr>
              <a:t>•  </a:t>
            </a:r>
            <a:r>
              <a:rPr sz="1400" b="1" i="0" spc="220">
                <a:solidFill>
                  <a:srgbClr val="2F63E6"/>
                </a:solidFill>
                <a:latin typeface="Consolas"/>
              </a:rPr>
              <a:t>WIRESHARK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0" y="585216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150" b="0" i="0" spc="120">
                <a:solidFill>
                  <a:srgbClr val="8A94A4"/>
                </a:solidFill>
                <a:latin typeface="Consolas"/>
              </a:rPr>
              <a:t>a2-xr-0-0.pcap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14300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100" b="1" i="0">
                <a:solidFill>
                  <a:srgbClr val="141A24"/>
                </a:solidFill>
                <a:latin typeface="Segoe UI Semibold"/>
              </a:rPr>
              <a:t>In Wireshark, each frame is a burst of packets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1938528"/>
            <a:ext cx="1920240" cy="0"/>
          </a:xfrm>
          <a:prstGeom prst="bentConnector3">
            <a:avLst/>
          </a:prstGeom>
          <a:ln w="25400">
            <a:solidFill>
              <a:srgbClr val="D9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wireshark-1-packet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240280"/>
            <a:ext cx="6675120" cy="3610633"/>
          </a:xfrm>
          <a:prstGeom prst="rect">
            <a:avLst/>
          </a:prstGeom>
          <a:ln w="12700">
            <a:solidFill>
              <a:srgbClr val="D9E0EA"/>
            </a:solidFill>
          </a:ln>
        </p:spPr>
      </p:pic>
      <p:pic>
        <p:nvPicPr>
          <p:cNvPr id="7" name="Picture 6" descr="wireshark-3-convers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988073"/>
            <a:ext cx="6675120" cy="577251"/>
          </a:xfrm>
          <a:prstGeom prst="rect">
            <a:avLst/>
          </a:prstGeom>
          <a:ln w="12700">
            <a:solidFill>
              <a:srgbClr val="D9E0EA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818120" y="2240280"/>
            <a:ext cx="352044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999"/>
              </a:lnSpc>
              <a:spcAft>
                <a:spcPts val="1000"/>
              </a:spcAft>
            </a:pPr>
            <a:r>
              <a:rPr sz="1400" b="1" i="0">
                <a:solidFill>
                  <a:srgbClr val="2F63E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41A24"/>
                </a:solidFill>
                <a:latin typeface="Segoe UI"/>
              </a:rPr>
              <a:t>Packets 1–50: </a:t>
            </a:r>
            <a:r>
              <a:rPr sz="1400" b="0" i="0">
                <a:solidFill>
                  <a:srgbClr val="141A24"/>
                </a:solidFill>
                <a:latin typeface="Segoe UI"/>
              </a:rPr>
              <a:t>1400 B, 57 µs apart.</a:t>
            </a:r>
          </a:p>
          <a:p>
            <a:pPr algn="l">
              <a:lnSpc>
                <a:spcPct val="114999"/>
              </a:lnSpc>
              <a:spcAft>
                <a:spcPts val="1000"/>
              </a:spcAft>
            </a:pPr>
            <a:r>
              <a:rPr sz="1400" b="1" i="0">
                <a:solidFill>
                  <a:srgbClr val="2F63E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41A24"/>
                </a:solidFill>
                <a:latin typeface="Segoe UI"/>
              </a:rPr>
              <a:t>Packet 51: </a:t>
            </a:r>
            <a:r>
              <a:rPr sz="1400" b="0" i="0">
                <a:solidFill>
                  <a:srgbClr val="141A24"/>
                </a:solidFill>
                <a:latin typeface="Segoe UI"/>
              </a:rPr>
              <a:t>397 B remainder → frame 0 is </a:t>
            </a:r>
            <a:r>
              <a:rPr sz="1400" b="1" i="0">
                <a:solidFill>
                  <a:srgbClr val="D97A2B"/>
                </a:solidFill>
                <a:latin typeface="Segoe UI"/>
              </a:rPr>
              <a:t>70 397 B</a:t>
            </a:r>
            <a:r>
              <a:rPr sz="1400" b="0" i="0">
                <a:solidFill>
                  <a:srgbClr val="141A24"/>
                </a:solidFill>
                <a:latin typeface="Segoe UI"/>
              </a:rPr>
              <a:t>, the same as the generator log.</a:t>
            </a:r>
          </a:p>
          <a:p>
            <a:pPr algn="l">
              <a:lnSpc>
                <a:spcPct val="114999"/>
              </a:lnSpc>
              <a:spcAft>
                <a:spcPts val="1000"/>
              </a:spcAft>
            </a:pPr>
            <a:r>
              <a:rPr sz="1400" b="1" i="0">
                <a:solidFill>
                  <a:srgbClr val="2F63E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41A24"/>
                </a:solidFill>
                <a:latin typeface="Segoe UI"/>
              </a:rPr>
              <a:t>Packet 52: </a:t>
            </a:r>
            <a:r>
              <a:rPr sz="1400" b="0" i="0">
                <a:solidFill>
                  <a:srgbClr val="141A24"/>
                </a:solidFill>
                <a:latin typeface="Segoe UI"/>
              </a:rPr>
              <a:t>11.49 ms later — the next frame starts.</a:t>
            </a:r>
          </a:p>
          <a:p>
            <a:pPr algn="l">
              <a:lnSpc>
                <a:spcPct val="114999"/>
              </a:lnSpc>
              <a:spcAft>
                <a:spcPts val="1000"/>
              </a:spcAft>
            </a:pPr>
            <a:r>
              <a:rPr sz="1400" b="1" i="0">
                <a:solidFill>
                  <a:srgbClr val="2F63E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41A24"/>
                </a:solidFill>
                <a:latin typeface="Segoe UI"/>
              </a:rPr>
              <a:t>Conversations: </a:t>
            </a:r>
            <a:r>
              <a:rPr sz="1400" b="0" i="0">
                <a:solidFill>
                  <a:srgbClr val="141A24"/>
                </a:solidFill>
                <a:latin typeface="Segoe UI"/>
              </a:rPr>
              <a:t>one UDP flow, 27 119 packets, 38 MB, 30 Mbps.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 spc="150">
                <a:solidFill>
                  <a:srgbClr val="8A94A4"/>
                </a:solidFill>
                <a:latin typeface="Consolas"/>
              </a:rPr>
              <a:t>06   </a:t>
            </a:r>
            <a:r>
              <a:rPr sz="1400" b="1" i="0">
                <a:solidFill>
                  <a:srgbClr val="D97A2B"/>
                </a:solidFill>
                <a:latin typeface="Segoe UI"/>
              </a:rPr>
              <a:t>•  </a:t>
            </a:r>
            <a:r>
              <a:rPr sz="1400" b="1" i="0" spc="220">
                <a:solidFill>
                  <a:srgbClr val="2F63E6"/>
                </a:solidFill>
                <a:latin typeface="Consolas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0" y="585216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150" b="0" i="0" spc="120">
                <a:solidFill>
                  <a:srgbClr val="8A94A4"/>
                </a:solidFill>
                <a:latin typeface="Consolas"/>
              </a:rPr>
              <a:t>frame level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14300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100" b="1" i="0">
                <a:solidFill>
                  <a:srgbClr val="141A24"/>
                </a:solidFill>
                <a:latin typeface="Segoe UI Semibold"/>
              </a:rPr>
              <a:t>Frame level: all three KS tests pass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1938528"/>
            <a:ext cx="1920240" cy="0"/>
          </a:xfrm>
          <a:prstGeom prst="bentConnector3">
            <a:avLst/>
          </a:prstGeom>
          <a:ln w="25400">
            <a:solidFill>
              <a:srgbClr val="D9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dist_frame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240280"/>
            <a:ext cx="5120640" cy="1862051"/>
          </a:xfrm>
          <a:prstGeom prst="rect">
            <a:avLst/>
          </a:prstGeom>
          <a:ln w="12700">
            <a:solidFill>
              <a:srgbClr val="D9E0EA"/>
            </a:solidFill>
          </a:ln>
        </p:spPr>
      </p:pic>
      <p:pic>
        <p:nvPicPr>
          <p:cNvPr id="7" name="Picture 6" descr="dist_frame_i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240280"/>
            <a:ext cx="5120640" cy="1862051"/>
          </a:xfrm>
          <a:prstGeom prst="rect">
            <a:avLst/>
          </a:prstGeom>
          <a:ln w="12700">
            <a:solidFill>
              <a:srgbClr val="D9E0EA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868680" y="4376650"/>
            <a:ext cx="3337560" cy="132588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541242"/>
            <a:ext cx="28803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50" b="1" i="0" spc="120">
                <a:solidFill>
                  <a:srgbClr val="8A94A4"/>
                </a:solidFill>
                <a:latin typeface="Consolas"/>
              </a:rPr>
              <a:t>FRAME SIZE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0" i="0">
                <a:solidFill>
                  <a:srgbClr val="586274"/>
                </a:solidFill>
                <a:latin typeface="Consolas"/>
              </a:rPr>
              <a:t>generated  </a:t>
            </a:r>
            <a:r>
              <a:rPr sz="1200" b="1" i="0">
                <a:solidFill>
                  <a:srgbClr val="141A24"/>
                </a:solidFill>
                <a:latin typeface="Segoe UI"/>
              </a:rPr>
              <a:t>62 588 / 6 542 B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00" b="0" i="0">
                <a:solidFill>
                  <a:srgbClr val="586274"/>
                </a:solidFill>
                <a:latin typeface="Consolas"/>
              </a:rPr>
              <a:t>model      </a:t>
            </a:r>
            <a:r>
              <a:rPr sz="1200" b="1" i="0">
                <a:solidFill>
                  <a:srgbClr val="141A24"/>
                </a:solidFill>
                <a:latin typeface="Segoe UI"/>
              </a:rPr>
              <a:t>62 500 / 6 562 B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 i="0">
                <a:solidFill>
                  <a:srgbClr val="141A24"/>
                </a:solidFill>
                <a:latin typeface="Consolas"/>
              </a:rPr>
              <a:t>KS 0.030 &lt; 0.056  </a:t>
            </a:r>
            <a:r>
              <a:rPr sz="1300" b="1" i="0">
                <a:solidFill>
                  <a:srgbClr val="1E8E5A"/>
                </a:solidFill>
                <a:latin typeface="Consolas"/>
              </a:rPr>
              <a:t>PASS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1980" y="4376650"/>
            <a:ext cx="3337560" cy="132588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0580" y="4541242"/>
            <a:ext cx="28803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50" b="1" i="0" spc="120">
                <a:solidFill>
                  <a:srgbClr val="8A94A4"/>
                </a:solidFill>
                <a:latin typeface="Consolas"/>
              </a:rPr>
              <a:t>JITTER Jₖ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0" i="0">
                <a:solidFill>
                  <a:srgbClr val="586274"/>
                </a:solidFill>
                <a:latin typeface="Consolas"/>
              </a:rPr>
              <a:t>generated  </a:t>
            </a:r>
            <a:r>
              <a:rPr sz="1200" b="1" i="0">
                <a:solidFill>
                  <a:srgbClr val="141A24"/>
                </a:solidFill>
                <a:latin typeface="Segoe UI"/>
              </a:rPr>
              <a:t>0.04 / 1.70 ms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00" b="0" i="0">
                <a:solidFill>
                  <a:srgbClr val="586274"/>
                </a:solidFill>
                <a:latin typeface="Consolas"/>
              </a:rPr>
              <a:t>model      </a:t>
            </a:r>
            <a:r>
              <a:rPr sz="1200" b="1" i="0">
                <a:solidFill>
                  <a:srgbClr val="141A24"/>
                </a:solidFill>
                <a:latin typeface="Segoe UI"/>
              </a:rPr>
              <a:t>0.00 / 1.76 ms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 i="0">
                <a:solidFill>
                  <a:srgbClr val="141A24"/>
                </a:solidFill>
                <a:latin typeface="Consolas"/>
              </a:rPr>
              <a:t>KS 0.032 &lt; 0.056  </a:t>
            </a:r>
            <a:r>
              <a:rPr sz="1300" b="1" i="0">
                <a:solidFill>
                  <a:srgbClr val="1E8E5A"/>
                </a:solidFill>
                <a:latin typeface="Consolas"/>
              </a:rPr>
              <a:t>PASS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4376650"/>
            <a:ext cx="3337560" cy="132588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4541242"/>
            <a:ext cx="28803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50" b="1" i="0" spc="120">
                <a:solidFill>
                  <a:srgbClr val="8A94A4"/>
                </a:solidFill>
                <a:latin typeface="Consolas"/>
              </a:rPr>
              <a:t>INTER-ARRIVAL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0" i="0">
                <a:solidFill>
                  <a:srgbClr val="586274"/>
                </a:solidFill>
                <a:latin typeface="Consolas"/>
              </a:rPr>
              <a:t>generated  </a:t>
            </a:r>
            <a:r>
              <a:rPr sz="1200" b="1" i="0">
                <a:solidFill>
                  <a:srgbClr val="141A24"/>
                </a:solidFill>
                <a:latin typeface="Segoe UI"/>
              </a:rPr>
              <a:t>16.66 / 2.42 ms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00" b="0" i="0">
                <a:solidFill>
                  <a:srgbClr val="586274"/>
                </a:solidFill>
                <a:latin typeface="Consolas"/>
              </a:rPr>
              <a:t>model      </a:t>
            </a:r>
            <a:r>
              <a:rPr sz="1200" b="1" i="0">
                <a:solidFill>
                  <a:srgbClr val="141A24"/>
                </a:solidFill>
                <a:latin typeface="Segoe UI"/>
              </a:rPr>
              <a:t>16.67 / 2.50 ms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 i="0">
                <a:solidFill>
                  <a:srgbClr val="141A24"/>
                </a:solidFill>
                <a:latin typeface="Consolas"/>
              </a:rPr>
              <a:t>KS 0.027 &lt; 0.056  </a:t>
            </a:r>
            <a:r>
              <a:rPr sz="1300" b="1" i="0">
                <a:solidFill>
                  <a:srgbClr val="1E8E5A"/>
                </a:solidFill>
                <a:latin typeface="Consolas"/>
              </a:rPr>
              <a:t>PASS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 spc="150">
                <a:solidFill>
                  <a:srgbClr val="8A94A4"/>
                </a:solidFill>
                <a:latin typeface="Consolas"/>
              </a:rPr>
              <a:t>07   </a:t>
            </a:r>
            <a:r>
              <a:rPr sz="1400" b="1" i="0">
                <a:solidFill>
                  <a:srgbClr val="D97A2B"/>
                </a:solidFill>
                <a:latin typeface="Segoe UI"/>
              </a:rPr>
              <a:t>•  </a:t>
            </a:r>
            <a:r>
              <a:rPr sz="1400" b="1" i="0" spc="220">
                <a:solidFill>
                  <a:srgbClr val="2F63E6"/>
                </a:solidFill>
                <a:latin typeface="Consolas"/>
              </a:rPr>
              <a:t>PACKET LEVEL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0" y="585216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150" b="0" i="0" spc="120">
                <a:solidFill>
                  <a:srgbClr val="8A94A4"/>
                </a:solidFill>
                <a:latin typeface="Consolas"/>
              </a:rPr>
              <a:t>pcap = csv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14300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100" b="1" i="0">
                <a:solidFill>
                  <a:srgbClr val="141A24"/>
                </a:solidFill>
                <a:latin typeface="Segoe UI Semibold"/>
              </a:rPr>
              <a:t>The wire carries what the generator made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1938528"/>
            <a:ext cx="1920240" cy="0"/>
          </a:xfrm>
          <a:prstGeom prst="bentConnector3">
            <a:avLst/>
          </a:prstGeom>
          <a:ln w="25400">
            <a:solidFill>
              <a:srgbClr val="D9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dist_pac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240280"/>
            <a:ext cx="6766560" cy="2460567"/>
          </a:xfrm>
          <a:prstGeom prst="rect">
            <a:avLst/>
          </a:prstGeom>
          <a:ln w="12700">
            <a:solidFill>
              <a:srgbClr val="D9E0EA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909560" y="2240280"/>
            <a:ext cx="342900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999"/>
              </a:lnSpc>
              <a:spcAft>
                <a:spcPts val="1000"/>
              </a:spcAft>
            </a:pPr>
            <a:r>
              <a:rPr sz="1400" b="1" i="0">
                <a:solidFill>
                  <a:srgbClr val="2F63E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D97A2B"/>
                </a:solidFill>
                <a:latin typeface="Segoe UI"/>
              </a:rPr>
              <a:t>97.788 %</a:t>
            </a:r>
            <a:r>
              <a:rPr sz="1400" b="0" i="0">
                <a:solidFill>
                  <a:srgbClr val="141A24"/>
                </a:solidFill>
                <a:latin typeface="Segoe UI"/>
              </a:rPr>
              <a:t> of packets are full 1400 B; the model predicts </a:t>
            </a:r>
            <a:r>
              <a:rPr sz="1400" b="1" i="0">
                <a:solidFill>
                  <a:srgbClr val="D97A2B"/>
                </a:solidFill>
                <a:latin typeface="Segoe UI"/>
              </a:rPr>
              <a:t>97.787 %</a:t>
            </a:r>
            <a:r>
              <a:rPr sz="1400" b="0" i="0">
                <a:solidFill>
                  <a:srgbClr val="141A24"/>
                </a:solidFill>
                <a:latin typeface="Segoe UI"/>
              </a:rPr>
              <a:t>.</a:t>
            </a:r>
          </a:p>
          <a:p>
            <a:pPr algn="l">
              <a:lnSpc>
                <a:spcPct val="114999"/>
              </a:lnSpc>
              <a:spcAft>
                <a:spcPts val="1000"/>
              </a:spcAft>
            </a:pPr>
            <a:r>
              <a:rPr sz="1400" b="1" i="0">
                <a:solidFill>
                  <a:srgbClr val="2F63E6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41A24"/>
                </a:solidFill>
                <a:latin typeface="Segoe UI"/>
              </a:rPr>
              <a:t>45.2 packets per frame; the rest are the per-frame remainders.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937760"/>
            <a:ext cx="10424160" cy="118872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02352"/>
            <a:ext cx="9966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950" b="1" i="0" spc="120">
                <a:solidFill>
                  <a:srgbClr val="8A94A4"/>
                </a:solidFill>
                <a:latin typeface="Consolas"/>
              </a:rPr>
              <a:t>WIRE CHECK — PCAP VS GENERATOR LOG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1" i="0">
                <a:solidFill>
                  <a:srgbClr val="2F63E6"/>
                </a:solidFill>
                <a:latin typeface="Consolas"/>
              </a:rPr>
              <a:t>PCAP   </a:t>
            </a:r>
            <a:r>
              <a:rPr sz="1250" b="0" i="0">
                <a:solidFill>
                  <a:srgbClr val="586274"/>
                </a:solidFill>
                <a:latin typeface="Segoe UI"/>
              </a:rPr>
              <a:t>27 119 UDP packets · 37 553 066 payload bytes   (tshark, udp.length − 8)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1" i="0">
                <a:solidFill>
                  <a:srgbClr val="2F63E6"/>
                </a:solidFill>
                <a:latin typeface="Consolas"/>
              </a:rPr>
              <a:t>CSV    </a:t>
            </a:r>
            <a:r>
              <a:rPr sz="1250" b="0" i="0">
                <a:solidFill>
                  <a:srgbClr val="586274"/>
                </a:solidFill>
                <a:latin typeface="Segoe UI"/>
              </a:rPr>
              <a:t>27 119 packets · 37 553 066 payload bytes   (xr-packets.csv)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